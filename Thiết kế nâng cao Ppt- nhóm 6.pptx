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1" r:id="rId7"/>
    <p:sldId id="264" r:id="rId8"/>
    <p:sldId id="260" r:id="rId9"/>
    <p:sldId id="262" r:id="rId10"/>
    <p:sldId id="265" r:id="rId11"/>
    <p:sldId id="266" r:id="rId12"/>
    <p:sldId id="267" r:id="rId13"/>
    <p:sldId id="268" r:id="rId14"/>
    <p:sldId id="271" r:id="rId15"/>
    <p:sldId id="269" r:id="rId16"/>
  </p:sldIdLst>
  <p:sldSz cx="12192000" cy="6858000"/>
  <p:notesSz cx="6858000" cy="9144000"/>
  <p:custShowLst>
    <p:custShow name="KHTN" id="0">
      <p:sldLst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6"/>
      </p:sldLst>
    </p:custShow>
    <p:custShow name="CNTT" id="1">
      <p:sldLst>
        <p:sld r:id="rId3"/>
        <p:sld r:id="rId4"/>
        <p:sld r:id="rId5"/>
        <p:sld r:id="rId6"/>
        <p:sld r:id="rId7"/>
        <p:sld r:id="rId12"/>
        <p:sld r:id="rId13"/>
        <p:sld r:id="rId14"/>
        <p:sld r:id="rId15"/>
        <p:sld r:id="rId16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4587E-2870-4344-AF0C-9971B8E3A7C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854E6-DD80-4EBD-8372-71A893A239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vi-VN" altLang="en-US" dirty="0"/>
              <a:t>Đại Học Cần thơ-quá </a:t>
            </a:r>
            <a:br>
              <a:rPr lang="vi-VN" altLang="en-US" dirty="0"/>
            </a:br>
            <a:r>
              <a:rPr lang="vi-VN" altLang="en-US" dirty="0"/>
              <a:t>trình hình thành và </a:t>
            </a:r>
            <a:br>
              <a:rPr lang="vi-VN" altLang="en-US" dirty="0"/>
            </a:br>
            <a:r>
              <a:rPr lang="vi-VN" altLang="en-US" dirty="0"/>
              <a:t>phát </a:t>
            </a:r>
            <a:r>
              <a:rPr lang="vi-VN" altLang="en-US" dirty="0"/>
              <a:t>triển</a:t>
            </a:r>
            <a:endParaRPr lang="vi-V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altLang="en-US" smtClean="0"/>
              <a:t>ts.Nguyễn văn </a:t>
            </a:r>
            <a:r>
              <a:rPr lang="vi-VN" altLang="en-US" smtClean="0"/>
              <a:t>a</a:t>
            </a:r>
            <a:endParaRPr lang="vi-V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6105-C2B4-449D-BA5C-95486AF43C9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thiệu </a:t>
            </a:r>
            <a:r>
              <a:rPr lang="en-US" smtClean="0"/>
              <a:t>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F2400-BD25-45AE-8AA1-BB55F9B1C5E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altLang="en-US" smtClean="0">
                <a:sym typeface="+mn-ea"/>
              </a:rPr>
              <a:t>Thời kỳ Viện đại học cần thơ(1966-1975)</a:t>
            </a:r>
            <a:endParaRPr lang="vi-VN" altLang="en-US" dirty="0" smtClean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2pPr>
              <a:buFont typeface="Arial" panose="020B0604020202020204" pitchFamily="34" charset="0"/>
              <a:buChar char="•"/>
              <a:defRPr sz="2400" b="0"/>
            </a:lvl2pPr>
            <a:lvl3pPr marL="1257300" indent="-342900">
              <a:buFont typeface="Segoe UI" panose="020B0502040204020203" charset="0"/>
              <a:buChar char="-"/>
              <a:defRPr sz="2400"/>
            </a:lvl3pPr>
            <a:lvl4pPr marL="1371600" indent="0">
              <a:buNone/>
              <a:defRPr/>
            </a:lvl4pPr>
          </a:lstStyle>
          <a:p>
            <a:pPr lvl="1"/>
            <a:r>
              <a:rPr lang="vi-VN" altLang="en-US" smtClean="0"/>
              <a:t>Viện đại học cần thơ được đổi thành </a:t>
            </a:r>
            <a:r>
              <a:rPr lang="vi-VN" altLang="en-US" smtClean="0"/>
              <a:t>đhct</a:t>
            </a:r>
            <a:endParaRPr lang="vi-VN" altLang="en-US" smtClean="0"/>
          </a:p>
          <a:p>
            <a:pPr lvl="1"/>
            <a:r>
              <a:rPr lang="vi-VN" altLang="en-US" smtClean="0"/>
              <a:t>cơ cấu đhct hiện </a:t>
            </a:r>
            <a:r>
              <a:rPr lang="vi-VN" altLang="en-US" smtClean="0"/>
              <a:t>nay</a:t>
            </a:r>
            <a:endParaRPr lang="vi-VN" altLang="en-US" smtClean="0"/>
          </a:p>
          <a:p>
            <a:pPr lvl="2"/>
            <a:r>
              <a:rPr lang="vi-VN" altLang="en-US" smtClean="0"/>
              <a:t>khoa-</a:t>
            </a:r>
            <a:r>
              <a:rPr lang="vi-VN" altLang="en-US" smtClean="0"/>
              <a:t>viện</a:t>
            </a:r>
            <a:endParaRPr lang="vi-VN" altLang="en-US" smtClean="0"/>
          </a:p>
          <a:p>
            <a:pPr lvl="2"/>
            <a:r>
              <a:rPr lang="vi-VN" altLang="en-US" smtClean="0"/>
              <a:t>Trung tâm-trung tâm đào </a:t>
            </a:r>
            <a:r>
              <a:rPr lang="vi-VN" altLang="en-US" smtClean="0"/>
              <a:t>tạo</a:t>
            </a:r>
            <a:endParaRPr lang="vi-VN" altLang="en-US" smtClean="0"/>
          </a:p>
          <a:p>
            <a:pPr lvl="3"/>
            <a:endParaRPr lang="vi-V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CA2A-7DBC-496B-9C07-76F201DD5FD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167D-4831-44F8-8F30-C6847C6A7CB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040F-8F1C-4800-B84C-68AE4F051C2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2CFA5-65C0-4CF8-BF1E-B5F60CF27A61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31C39-8BAB-4CE8-B425-8D9B7D245DB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6C5C-BD13-4892-A6C5-9A4089A66FB3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0F18-A95C-4573-8ACC-0870068FEDF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9D9D-4BC3-4582-AC35-88E608E0AF9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0C757-9E0B-4837-AFE1-9EA051B0FC1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9530-F53F-4A44-883E-0993F06632F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B60DF-9595-43A3-BB87-6174BA56F19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097F-3449-48FF-BA9A-E81086FAB4E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66493-07D8-467F-945A-33C338E446A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4582-B4EB-4A1A-BB34-2BE2BB32883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8E9E-A642-4B74-8C5A-D7AA299DBD9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ABDC-BBCF-4B4F-8C4B-94F4C5E7FB6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png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vi-VN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22A9270-EC41-4A6B-B842-A3108CCD5F8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smtClean="0"/>
              <a:t>Giới thiệu Đại học Cần </a:t>
            </a:r>
            <a:r>
              <a:rPr lang="vi-VN" smtClean="0"/>
              <a:t>Thơ</a:t>
            </a:r>
            <a:endParaRPr lang="vi-VN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66849E2-DC68-43B6-B7D1-EBC3B4BCDA10}" type="slidenum">
              <a:rPr lang="vi-VN" smtClean="0"/>
            </a:fld>
            <a:endParaRPr lang="vi-VN" smtClean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284" y="196539"/>
            <a:ext cx="1422492" cy="134968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457200" indent="-457200" algn="l" defTabSz="914400" rtl="0" eaLnBrk="1" latinLnBrk="0" hangingPunct="1">
        <a:lnSpc>
          <a:spcPct val="120000"/>
        </a:lnSpc>
        <a:spcBef>
          <a:spcPts val="1000"/>
        </a:spcBef>
        <a:buClrTx/>
        <a:buFont typeface="Arial" panose="020B0604020202020204" pitchFamily="34" charset="0"/>
        <a:buChar char="•"/>
        <a:defRPr sz="32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914400" indent="-4572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⁻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⁺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cit.ctu.edu.vn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altLang="en-US"/>
              <a:t>Đại học Cần thơ-quá trình hình thành và phát </a:t>
            </a:r>
            <a:r>
              <a:rPr lang="vi-VN" altLang="en-US"/>
              <a:t>triển  </a:t>
            </a:r>
            <a:endParaRPr lang="vi-V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altLang="en-US"/>
              <a:t>ts.nguyễn văn </a:t>
            </a:r>
            <a:r>
              <a:rPr lang="vi-VN" altLang="en-US"/>
              <a:t>a</a:t>
            </a:r>
            <a:endParaRPr lang="vi-V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altLang="en-US" smtClean="0"/>
              <a:t>1</a:t>
            </a:r>
            <a:endParaRPr lang="vi-VN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/>
              <a:t>Nội dung </a:t>
            </a:r>
            <a:endParaRPr lang="vi-V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vi-VN" altLang="en-US"/>
              <a:t>THời kỳ viện đại học cần thơ(1966-1975)</a:t>
            </a:r>
            <a:endParaRPr lang="vi-VN" altLang="en-US"/>
          </a:p>
          <a:p>
            <a:r>
              <a:rPr lang="vi-VN" altLang="en-US"/>
              <a:t>ĐHCT giai đoạn năm 1975 </a:t>
            </a:r>
            <a:endParaRPr lang="vi-V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thời kỳ viện đại học cần thơ(1966-</a:t>
            </a:r>
            <a:r>
              <a:rPr lang="vi-VN" altLang="en-US">
                <a:sym typeface="+mn-ea"/>
              </a:rPr>
              <a:t>1975)</a:t>
            </a:r>
            <a:endParaRPr lang="vi-VN" alt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vi-VN" altLang="en-US"/>
              <a:t>Được thành lập ngày 31 tháng 03 năm 1966 </a:t>
            </a:r>
            <a:endParaRPr lang="vi-VN" altLang="en-US"/>
          </a:p>
          <a:p>
            <a:r>
              <a:rPr lang="vi-VN" altLang="en-US"/>
              <a:t>Viện đại học cần thơ có bốn khoa:</a:t>
            </a:r>
            <a:endParaRPr lang="vi-VN" altLang="en-US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/>
              <a:t>Khoa </a:t>
            </a:r>
            <a:r>
              <a:rPr lang="vi-VN" altLang="en-US"/>
              <a:t>luật</a:t>
            </a:r>
            <a:endParaRPr lang="vi-VN" altLang="en-US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/>
              <a:t>luật </a:t>
            </a:r>
            <a:r>
              <a:rPr lang="vi-VN" altLang="en-US"/>
              <a:t>khoa</a:t>
            </a:r>
            <a:endParaRPr lang="vi-VN" altLang="en-US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/>
              <a:t>Khoa học xã hội, văn khoa, sư </a:t>
            </a:r>
            <a:r>
              <a:rPr lang="vi-VN" altLang="en-US"/>
              <a:t>phạm</a:t>
            </a:r>
            <a:endParaRPr lang="vi-VN" altLang="en-US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/>
              <a:t>cao đẳng nông nghiệp và trung tâm sinh </a:t>
            </a:r>
            <a:r>
              <a:rPr lang="vi-VN" altLang="en-US"/>
              <a:t>ngữ</a:t>
            </a:r>
            <a:endParaRPr lang="vi-V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thời kỳ viện đại học cần thơ(1966-1975)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vi-VN" altLang="en-US" sz="3000"/>
              <a:t>cơ sở vật chất của viện đại học cần thơ tọa lạc trên 4 địa điểm</a:t>
            </a:r>
            <a:endParaRPr lang="vi-VN" altLang="en-US" sz="3000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250"/>
              <a:t>tòa viện trưởng(SỐ 5, đại lộ hòa bình)</a:t>
            </a:r>
            <a:endParaRPr lang="vi-VN" altLang="en-US" sz="2250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250"/>
              <a:t>khu i(đường 30/4)</a:t>
            </a:r>
            <a:endParaRPr lang="vi-VN" altLang="en-US" sz="2250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250"/>
              <a:t>khu ii: (đường 3/2)</a:t>
            </a:r>
            <a:endParaRPr lang="vi-VN" altLang="en-US" sz="2250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250"/>
              <a:t>Khu iii: (số 1, lý tự trọng)</a:t>
            </a:r>
            <a:endParaRPr lang="vi-VN" altLang="en-US" sz="2250"/>
          </a:p>
          <a:p>
            <a:pPr lvl="2">
              <a:buFont typeface="Arial" panose="020B0604020202020204" pitchFamily="34" charset="0"/>
              <a:buChar char="-"/>
            </a:pPr>
            <a:endParaRPr lang="vi-VN" altLang="en-US" sz="223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/>
              <a:t>Đ</a:t>
            </a:r>
            <a:r>
              <a:rPr lang="vi-VN" altLang="en-US"/>
              <a:t>hct giai đoạn sau năm </a:t>
            </a:r>
            <a:r>
              <a:rPr lang="vi-VN" altLang="en-US"/>
              <a:t>1975</a:t>
            </a:r>
            <a:endParaRPr lang="vi-V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vi-VN" altLang="en-US"/>
              <a:t>viện đại học cần thơ được đổi thành </a:t>
            </a:r>
            <a:r>
              <a:rPr lang="vi-VN" altLang="en-US"/>
              <a:t>đhct</a:t>
            </a:r>
            <a:endParaRPr lang="vi-VN" altLang="en-US"/>
          </a:p>
          <a:p>
            <a:r>
              <a:rPr lang="vi-VN" altLang="en-US"/>
              <a:t>cơ cấu đhct hiện </a:t>
            </a:r>
            <a:r>
              <a:rPr lang="vi-VN" altLang="en-US"/>
              <a:t>nay</a:t>
            </a:r>
            <a:endParaRPr lang="vi-VN" altLang="en-US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/>
              <a:t>khoa </a:t>
            </a:r>
            <a:r>
              <a:rPr lang="vi-VN" altLang="en-US"/>
              <a:t>viện</a:t>
            </a:r>
            <a:endParaRPr lang="vi-VN" altLang="en-US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/>
              <a:t>trung tâm-trung tâm đào </a:t>
            </a:r>
            <a:r>
              <a:rPr lang="vi-VN" altLang="en-US"/>
              <a:t>tạo</a:t>
            </a:r>
            <a:endParaRPr lang="vi-VN" altLang="en-US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/>
              <a:t>phòng ban chức </a:t>
            </a:r>
            <a:r>
              <a:rPr lang="vi-VN" altLang="en-US"/>
              <a:t>năng</a:t>
            </a:r>
            <a:endParaRPr lang="vi-VN" altLang="en-US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/>
              <a:t>đoàn thể &amp; </a:t>
            </a:r>
            <a:r>
              <a:rPr lang="vi-VN" altLang="en-US"/>
              <a:t>hội</a:t>
            </a:r>
            <a:endParaRPr lang="vi-V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/>
              <a:t>Đhct giai đoạn sau năm </a:t>
            </a:r>
            <a:r>
              <a:rPr lang="vi-VN" altLang="en-US"/>
              <a:t>1975</a:t>
            </a:r>
            <a:endParaRPr lang="vi-V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>
              <a:buClr>
                <a:srgbClr val="000000"/>
              </a:buClr>
            </a:pPr>
            <a:r>
              <a:rPr lang="vi-VN" altLang="en-US">
                <a:solidFill>
                  <a:srgbClr val="FF0000"/>
                </a:solidFill>
              </a:rPr>
              <a:t>khoa khoa học tự nhiên</a:t>
            </a:r>
            <a:endParaRPr lang="vi-VN" altLang="en-US">
              <a:solidFill>
                <a:srgbClr val="FF0000"/>
              </a:solidFill>
            </a:endParaRPr>
          </a:p>
          <a:p>
            <a:pPr lvl="1">
              <a:buClr>
                <a:srgbClr val="000000"/>
              </a:buClr>
              <a:buFont typeface="Arial" panose="020B0604020202020204" pitchFamily="34" charset="0"/>
              <a:buChar char="-"/>
            </a:pPr>
            <a:r>
              <a:rPr lang="vi-VN" altLang="en-US" sz="2800">
                <a:solidFill>
                  <a:schemeClr val="tx1"/>
                </a:solidFill>
              </a:rPr>
              <a:t>ngày 14/1/1998, trường đhct khánh thành khoa khoa học</a:t>
            </a:r>
            <a:endParaRPr lang="vi-VN" altLang="en-US" sz="2800">
              <a:solidFill>
                <a:schemeClr val="tx1"/>
              </a:solidFill>
            </a:endParaRPr>
          </a:p>
          <a:p>
            <a:pPr lvl="1">
              <a:buClr>
                <a:srgbClr val="000000"/>
              </a:buClr>
              <a:buFont typeface="Arial" panose="020B0604020202020204" pitchFamily="34" charset="0"/>
              <a:buChar char="-"/>
            </a:pPr>
            <a:r>
              <a:rPr lang="vi-VN" altLang="en-US" sz="2800">
                <a:solidFill>
                  <a:schemeClr val="tx1"/>
                </a:solidFill>
              </a:rPr>
              <a:t>cơ sở vật </a:t>
            </a:r>
            <a:r>
              <a:rPr lang="vi-VN" altLang="en-US" sz="2800">
                <a:solidFill>
                  <a:schemeClr val="tx1"/>
                </a:solidFill>
              </a:rPr>
              <a:t>chất</a:t>
            </a:r>
            <a:endParaRPr lang="vi-VN" altLang="en-US" sz="280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Arial" panose="020B0604020202020204" pitchFamily="34" charset="0"/>
              <a:buChar char="+"/>
            </a:pPr>
            <a:r>
              <a:rPr lang="vi-VN" altLang="en-US">
                <a:solidFill>
                  <a:schemeClr val="tx1"/>
                </a:solidFill>
              </a:rPr>
              <a:t>12 phòng thí nghiệm(PTN) cho sinh,hóa,vật </a:t>
            </a:r>
            <a:r>
              <a:rPr lang="vi-VN" altLang="en-US">
                <a:solidFill>
                  <a:schemeClr val="tx1"/>
                </a:solidFill>
              </a:rPr>
              <a:t>lý</a:t>
            </a:r>
            <a:endParaRPr lang="vi-VN" altLang="en-US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Arial" panose="020B0604020202020204" pitchFamily="34" charset="0"/>
              <a:buChar char="+"/>
            </a:pPr>
            <a:r>
              <a:rPr lang="vi-VN" altLang="en-US">
                <a:solidFill>
                  <a:schemeClr val="tx1"/>
                </a:solidFill>
              </a:rPr>
              <a:t>06 phòng máy tính được nối mạng với </a:t>
            </a:r>
            <a:r>
              <a:rPr lang="vi-VN" altLang="en-US">
                <a:solidFill>
                  <a:schemeClr val="tx1"/>
                </a:solidFill>
              </a:rPr>
              <a:t>nhau</a:t>
            </a:r>
            <a:endParaRPr lang="vi-VN" altLang="en-US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/>
              <a:t>Đhct giai đoạn sau năm </a:t>
            </a:r>
            <a:r>
              <a:rPr lang="vi-VN" altLang="en-US"/>
              <a:t>1975</a:t>
            </a:r>
            <a:endParaRPr lang="vi-V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>
              <a:buClr>
                <a:srgbClr val="000000"/>
              </a:buClr>
            </a:pPr>
            <a:r>
              <a:rPr lang="vi-VN" altLang="en-US">
                <a:solidFill>
                  <a:srgbClr val="FF0000"/>
                </a:solidFill>
              </a:rPr>
              <a:t>khoa khoa học tự nhiên</a:t>
            </a:r>
            <a:endParaRPr lang="vi-VN" altLang="en-US">
              <a:solidFill>
                <a:srgbClr val="FF0000"/>
              </a:solidFill>
            </a:endParaRPr>
          </a:p>
          <a:p>
            <a:pPr lvl="1">
              <a:buClr>
                <a:srgbClr val="000000"/>
              </a:buClr>
              <a:buFont typeface="Arial" panose="020B0604020202020204" pitchFamily="34" charset="0"/>
              <a:buChar char="-"/>
            </a:pPr>
            <a:r>
              <a:rPr lang="vi-VN" altLang="en-US">
                <a:solidFill>
                  <a:schemeClr val="tx1"/>
                </a:solidFill>
              </a:rPr>
              <a:t>cơ sở vật </a:t>
            </a:r>
            <a:r>
              <a:rPr lang="vi-VN" altLang="en-US">
                <a:solidFill>
                  <a:schemeClr val="tx1"/>
                </a:solidFill>
              </a:rPr>
              <a:t>chất</a:t>
            </a:r>
            <a:endParaRPr lang="vi-VN" altLang="en-US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SimSun" panose="02010600030101010101" pitchFamily="2" charset="-122"/>
              <a:buChar char="＋"/>
            </a:pPr>
            <a:r>
              <a:rPr lang="vi-VN" altLang="en-US">
                <a:solidFill>
                  <a:schemeClr val="tx1"/>
                </a:solidFill>
              </a:rPr>
              <a:t>vp khoa và xưởng sửa </a:t>
            </a:r>
            <a:r>
              <a:rPr lang="vi-VN" altLang="en-US">
                <a:solidFill>
                  <a:schemeClr val="tx1"/>
                </a:solidFill>
              </a:rPr>
              <a:t>chữa</a:t>
            </a:r>
            <a:endParaRPr lang="vi-VN" altLang="en-US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SimSun" panose="02010600030101010101" pitchFamily="2" charset="-122"/>
              <a:buChar char="＋"/>
            </a:pPr>
            <a:r>
              <a:rPr lang="vi-VN" altLang="en-US">
                <a:solidFill>
                  <a:schemeClr val="tx1"/>
                </a:solidFill>
              </a:rPr>
              <a:t>năm 2010, trường đã đầu tư mở rộng khu ptn của </a:t>
            </a:r>
            <a:r>
              <a:rPr lang="vi-VN" altLang="en-US">
                <a:solidFill>
                  <a:schemeClr val="tx1"/>
                </a:solidFill>
              </a:rPr>
              <a:t>khoa</a:t>
            </a:r>
            <a:endParaRPr lang="vi-VN" altLang="en-US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SimSun" panose="02010600030101010101" pitchFamily="2" charset="-122"/>
              <a:buChar char="＋"/>
            </a:pPr>
            <a:r>
              <a:rPr lang="vi-VN" altLang="en-US">
                <a:solidFill>
                  <a:schemeClr val="tx1"/>
                </a:solidFill>
              </a:rPr>
              <a:t>xây mới khu nhà 3 tầng với 22 </a:t>
            </a:r>
            <a:r>
              <a:rPr lang="vi-VN" altLang="en-US">
                <a:solidFill>
                  <a:schemeClr val="tx1"/>
                </a:solidFill>
              </a:rPr>
              <a:t>phòng</a:t>
            </a:r>
            <a:endParaRPr lang="vi-VN" altLang="en-US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/>
              <a:t>Đhct giai đoạn sau năm </a:t>
            </a:r>
            <a:r>
              <a:rPr lang="vi-VN" altLang="en-US"/>
              <a:t>1975</a:t>
            </a:r>
            <a:endParaRPr lang="vi-V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>
              <a:buClr>
                <a:srgbClr val="000000"/>
              </a:buClr>
            </a:pPr>
            <a:r>
              <a:rPr lang="vi-VN" altLang="en-US">
                <a:solidFill>
                  <a:srgbClr val="FF0000"/>
                </a:solidFill>
              </a:rPr>
              <a:t>khoa khoa học tự nhiên</a:t>
            </a:r>
            <a:endParaRPr lang="vi-VN" altLang="en-US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800"/>
              <a:t>khoa khtn hiện nay gồm 4 bộ môn</a:t>
            </a:r>
            <a:endParaRPr lang="vi-VN" altLang="en-US" sz="2800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sinh </a:t>
            </a:r>
            <a:r>
              <a:rPr lang="vi-VN" altLang="en-US"/>
              <a:t>học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hóa </a:t>
            </a:r>
            <a:r>
              <a:rPr lang="vi-VN" altLang="en-US"/>
              <a:t>học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toán </a:t>
            </a:r>
            <a:r>
              <a:rPr lang="vi-VN" altLang="en-US"/>
              <a:t>học 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vật </a:t>
            </a:r>
            <a:r>
              <a:rPr lang="vi-VN" altLang="en-US"/>
              <a:t>lý</a:t>
            </a:r>
            <a:endParaRPr lang="vi-V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p>
            <a:r>
              <a:rPr lang="vi-VN" altLang="en-US">
                <a:solidFill>
                  <a:srgbClr val="FF0000"/>
                </a:solidFill>
                <a:sym typeface="+mn-ea"/>
              </a:rPr>
              <a:t>khoa khoa học tự nhiên</a:t>
            </a:r>
            <a:endParaRPr lang="vi-VN" altLang="en-US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800"/>
              <a:t>công tác đào tạo</a:t>
            </a:r>
            <a:endParaRPr lang="vi-VN" altLang="en-US" sz="2800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đại học:.....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sđh:.....</a:t>
            </a:r>
            <a:endParaRPr lang="vi-VN" altLang="en-US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800"/>
              <a:t>công tác nckh,báo cáo chuyên </a:t>
            </a:r>
            <a:r>
              <a:rPr lang="vi-VN" altLang="en-US" sz="2800"/>
              <a:t>đề:.....</a:t>
            </a:r>
            <a:endParaRPr lang="vi-VN" altLang="en-US" sz="2800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800"/>
              <a:t>công tác đào tạo và bồi dưỡng cán </a:t>
            </a:r>
            <a:r>
              <a:rPr lang="vi-VN" altLang="en-US" sz="2800"/>
              <a:t>bộ:.....</a:t>
            </a:r>
            <a:endParaRPr lang="vi-VN" altLang="en-US" sz="2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p>
            <a:pPr>
              <a:buClr>
                <a:srgbClr val="000000"/>
              </a:buClr>
            </a:pPr>
            <a:r>
              <a:rPr lang="vi-VN" altLang="en-US" u="sng">
                <a:solidFill>
                  <a:srgbClr val="00B0F0"/>
                </a:solidFill>
                <a:hlinkClick r:id="rId1" tooltip="" action="ppaction://hlinkfile"/>
              </a:rPr>
              <a:t>Khoa cntt&amp;tt</a:t>
            </a:r>
            <a:endParaRPr lang="vi-VN" altLang="en-US" u="sng">
              <a:solidFill>
                <a:srgbClr val="00B0F0"/>
              </a:solidFill>
            </a:endParaRPr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300"/>
              <a:t>Được thành lập năm 1994 dựa trên cơ sở trung tâm điện tử và tin học</a:t>
            </a:r>
            <a:endParaRPr lang="vi-VN" altLang="en-US" sz="2300"/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300"/>
              <a:t>nhiệm vụ của khoa là đào tạo</a:t>
            </a:r>
            <a:endParaRPr lang="vi-VN" altLang="en-US" sz="2300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 sz="2200"/>
              <a:t>đại học và sau đại học</a:t>
            </a:r>
            <a:endParaRPr lang="vi-VN" altLang="en-US" sz="2200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 sz="2200"/>
              <a:t>nckh và chuyển giao công nghệ trong lĩnh vực cnt&amp;tt</a:t>
            </a:r>
            <a:endParaRPr lang="vi-VN" altLang="en-US" sz="2200"/>
          </a:p>
          <a:p>
            <a:pPr marL="457200" lvl="1" indent="0">
              <a:buNone/>
            </a:pPr>
            <a:endParaRPr lang="vi-VN" altLang="en-US" sz="2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>
              <a:buClr>
                <a:srgbClr val="000000"/>
              </a:buClr>
            </a:pPr>
            <a:r>
              <a:rPr lang="vi-VN" altLang="en-US">
                <a:solidFill>
                  <a:srgbClr val="0070C0"/>
                </a:solidFill>
              </a:rPr>
              <a:t>Khoa cntt&amp;tt</a:t>
            </a:r>
            <a:endParaRPr lang="vi-VN" altLang="en-US">
              <a:solidFill>
                <a:srgbClr val="0070C0"/>
              </a:solidFill>
            </a:endParaRPr>
          </a:p>
          <a:p>
            <a:pPr lvl="1">
              <a:buClr>
                <a:srgbClr val="000000"/>
              </a:buClr>
              <a:buFont typeface="Arial" panose="020B0604020202020204" pitchFamily="34" charset="0"/>
              <a:buChar char="-"/>
            </a:pPr>
            <a:r>
              <a:rPr lang="vi-VN" altLang="en-US" sz="2800">
                <a:solidFill>
                  <a:schemeClr val="tx1"/>
                </a:solidFill>
              </a:rPr>
              <a:t>tầm nhìn đến năm 2020</a:t>
            </a:r>
            <a:endParaRPr lang="vi-VN" altLang="en-US" sz="280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Arial" panose="020B0604020202020204" pitchFamily="34" charset="0"/>
              <a:buChar char="+"/>
            </a:pPr>
            <a:r>
              <a:rPr lang="vi-VN" altLang="en-US">
                <a:solidFill>
                  <a:schemeClr val="tx1"/>
                </a:solidFill>
              </a:rPr>
              <a:t>đơn vị đào tạp </a:t>
            </a:r>
            <a:r>
              <a:rPr lang="vi-VN" altLang="en-US">
                <a:solidFill>
                  <a:schemeClr val="tx1"/>
                </a:solidFill>
              </a:rPr>
              <a:t>và</a:t>
            </a:r>
            <a:endParaRPr lang="vi-VN" altLang="en-US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Arial" panose="020B0604020202020204" pitchFamily="34" charset="0"/>
              <a:buChar char="+"/>
            </a:pPr>
            <a:r>
              <a:rPr lang="vi-VN" altLang="en-US">
                <a:solidFill>
                  <a:schemeClr val="tx1"/>
                </a:solidFill>
              </a:rPr>
              <a:t>nghiên cứu khoa học về cntt&amp;tt mạnh của cả </a:t>
            </a:r>
            <a:r>
              <a:rPr lang="vi-VN" altLang="en-US">
                <a:solidFill>
                  <a:schemeClr val="tx1"/>
                </a:solidFill>
              </a:rPr>
              <a:t>nước</a:t>
            </a:r>
            <a:endParaRPr lang="vi-VN" altLang="en-US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>
              <a:buClr>
                <a:srgbClr val="000000"/>
              </a:buClr>
            </a:pPr>
            <a:r>
              <a:rPr lang="vi-VN" altLang="en-US">
                <a:solidFill>
                  <a:srgbClr val="0070C0"/>
                </a:solidFill>
                <a:sym typeface="+mn-ea"/>
              </a:rPr>
              <a:t>Khoa cntt&amp;tt</a:t>
            </a:r>
            <a:endParaRPr lang="vi-VN" altLang="en-US">
              <a:solidFill>
                <a:srgbClr val="0070C0"/>
              </a:solidFill>
            </a:endParaRPr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800"/>
              <a:t>các bộ môn và trung tâm</a:t>
            </a:r>
            <a:endParaRPr lang="vi-VN" altLang="en-US" sz="2800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hệ thống thông </a:t>
            </a:r>
            <a:r>
              <a:rPr lang="vi-VN" altLang="en-US"/>
              <a:t>tin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mạng máy tính&amp;truyền </a:t>
            </a:r>
            <a:r>
              <a:rPr lang="vi-VN" altLang="en-US"/>
              <a:t>thông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công nghệ phần </a:t>
            </a:r>
            <a:r>
              <a:rPr lang="vi-VN" altLang="en-US"/>
              <a:t>mềm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khoa học máy </a:t>
            </a:r>
            <a:r>
              <a:rPr lang="vi-VN" altLang="en-US"/>
              <a:t>tính</a:t>
            </a:r>
            <a:endParaRPr lang="vi-V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>
              <a:buClr>
                <a:srgbClr val="000000"/>
              </a:buClr>
            </a:pPr>
            <a:r>
              <a:rPr lang="vi-VN" altLang="en-US">
                <a:solidFill>
                  <a:srgbClr val="0070C0"/>
                </a:solidFill>
                <a:sym typeface="+mn-ea"/>
              </a:rPr>
              <a:t>Khoa cntt&amp;tt</a:t>
            </a:r>
            <a:endParaRPr lang="vi-VN" altLang="en-US">
              <a:solidFill>
                <a:srgbClr val="0070C0"/>
              </a:solidFill>
            </a:endParaRPr>
          </a:p>
          <a:p>
            <a:pPr lvl="1">
              <a:buFont typeface="Arial" panose="020B0604020202020204" pitchFamily="34" charset="0"/>
              <a:buChar char="-"/>
            </a:pPr>
            <a:r>
              <a:rPr lang="vi-VN" altLang="en-US" sz="2800"/>
              <a:t>các bộ môn và trung tâm</a:t>
            </a:r>
            <a:endParaRPr lang="vi-VN" altLang="en-US" sz="2800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công nghệ thông </a:t>
            </a:r>
            <a:r>
              <a:rPr lang="vi-VN" altLang="en-US"/>
              <a:t>tin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bộ môn tin học ứng dụ</a:t>
            </a:r>
            <a:r>
              <a:rPr lang="vi-VN" altLang="en-US"/>
              <a:t>ng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tổ văn </a:t>
            </a:r>
            <a:r>
              <a:rPr lang="vi-VN" altLang="en-US"/>
              <a:t>phòng</a:t>
            </a:r>
            <a:endParaRPr lang="vi-VN" altLang="en-US"/>
          </a:p>
          <a:p>
            <a:pPr lvl="2">
              <a:buSzPct val="80000"/>
              <a:buFont typeface="Arial" panose="020B0604020202020204" pitchFamily="34" charset="0"/>
              <a:buChar char="+"/>
            </a:pPr>
            <a:r>
              <a:rPr lang="vi-VN" altLang="en-US"/>
              <a:t>trung tâm điện tử&amp;tin </a:t>
            </a:r>
            <a:r>
              <a:rPr lang="vi-VN" altLang="en-US"/>
              <a:t>học</a:t>
            </a:r>
            <a:endParaRPr lang="vi-V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/>
              <a:t>  </a:t>
            </a:r>
            <a:endParaRPr lang="vi-V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marL="0" indent="0" algn="ctr">
              <a:buNone/>
            </a:pPr>
            <a:r>
              <a:rPr lang="vi-VN" altLang="en-US" b="1"/>
              <a:t>Cám ơn sự chú ý của quý vị</a:t>
            </a:r>
            <a:endParaRPr lang="vi-VN" altLang="en-US" b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97BA7F-1617-490D-9A66-89B6748A2EE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0</TotalTime>
  <Words>2438</Words>
  <Application>WPS Presentation</Application>
  <PresentationFormat>Widescreen</PresentationFormat>
  <Paragraphs>164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  <vt:variant>
        <vt:lpstr>自定义放映</vt:lpstr>
      </vt:variant>
      <vt:variant>
        <vt:i4>2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Segoe UI</vt:lpstr>
      <vt:lpstr>Tw Cen MT</vt:lpstr>
      <vt:lpstr>Microsoft YaHei</vt:lpstr>
      <vt:lpstr>Arial Unicode MS</vt:lpstr>
      <vt:lpstr>Calibri</vt:lpstr>
      <vt:lpstr>Algerian</vt:lpstr>
      <vt:lpstr>Bahnschrift</vt:lpstr>
      <vt:lpstr>Bahnschrift Light Condensed</vt:lpstr>
      <vt:lpstr>Droplet</vt:lpstr>
      <vt:lpstr>Đại học </vt:lpstr>
      <vt:lpstr>Nội dung </vt:lpstr>
      <vt:lpstr>PowerPoint 演示文稿</vt:lpstr>
      <vt:lpstr>PowerPoint 演示文稿</vt:lpstr>
      <vt:lpstr>PowerPoint 演示文稿</vt:lpstr>
      <vt:lpstr>Đhct giai đoạn sau năm 1975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Đhct giai đoạn sau năm 1975</vt:lpstr>
      <vt:lpstr>PowerPoint 演示文稿</vt:lpstr>
      <vt:lpstr>KHTN</vt:lpstr>
      <vt:lpstr>CNTT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Nhan Duc</cp:lastModifiedBy>
  <cp:revision>11</cp:revision>
  <dcterms:created xsi:type="dcterms:W3CDTF">2026-02-06T00:21:00Z</dcterms:created>
  <dcterms:modified xsi:type="dcterms:W3CDTF">2026-02-06T04:37:40Z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7B89AFFBFCF34B2B8AF4549BBCEAD4B2_13</vt:lpwstr>
  </property>
  <property fmtid="{D5CDD505-2E9C-101B-9397-08002B2CF9AE}" pid="3" name="KSOProductBuildVer">
    <vt:lpwstr>1033-12.2.0.22222</vt:lpwstr>
  </property>
</Properties>
</file>