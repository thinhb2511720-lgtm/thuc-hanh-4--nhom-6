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0" d="100"/>
          <a:sy n="110" d="100"/>
        </p:scale>
        <p:origin x="5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A3749D1-9051-4CA9-896B-5F95AFFA1575}"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852224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3749D1-9051-4CA9-896B-5F95AFFA1575}"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2043360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3749D1-9051-4CA9-896B-5F95AFFA1575}"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1631019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3749D1-9051-4CA9-896B-5F95AFFA1575}"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1893375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3749D1-9051-4CA9-896B-5F95AFFA1575}" type="datetimeFigureOut">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1910124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3749D1-9051-4CA9-896B-5F95AFFA1575}" type="datetimeFigureOut">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2202281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3749D1-9051-4CA9-896B-5F95AFFA1575}" type="datetimeFigureOut">
              <a:rPr lang="en-US" smtClean="0"/>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393288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3749D1-9051-4CA9-896B-5F95AFFA1575}"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803704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A3749D1-9051-4CA9-896B-5F95AFFA1575}"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4166087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3749D1-9051-4CA9-896B-5F95AFFA1575}"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383440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3749D1-9051-4CA9-896B-5F95AFFA1575}"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9807C-1EB2-4303-B618-71CB5F6BE940}" type="slidenum">
              <a:rPr lang="en-US" smtClean="0"/>
              <a:t>‹#›</a:t>
            </a:fld>
            <a:endParaRPr lang="en-US"/>
          </a:p>
        </p:txBody>
      </p:sp>
    </p:spTree>
    <p:extLst>
      <p:ext uri="{BB962C8B-B14F-4D97-AF65-F5344CB8AC3E}">
        <p14:creationId xmlns:p14="http://schemas.microsoft.com/office/powerpoint/2010/main" val="3503955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749D1-9051-4CA9-896B-5F95AFFA1575}" type="datetimeFigureOut">
              <a:rPr lang="en-US" smtClean="0"/>
              <a:t>6/2/2026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C9807C-1EB2-4303-B618-71CB5F6BE940}" type="slidenum">
              <a:rPr lang="en-US" smtClean="0"/>
              <a:t>‹#›</a:t>
            </a:fld>
            <a:endParaRPr lang="en-US"/>
          </a:p>
        </p:txBody>
      </p:sp>
    </p:spTree>
    <p:extLst>
      <p:ext uri="{BB962C8B-B14F-4D97-AF65-F5344CB8AC3E}">
        <p14:creationId xmlns:p14="http://schemas.microsoft.com/office/powerpoint/2010/main" val="620984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000" b="1">
                <a:solidFill>
                  <a:srgbClr val="996633"/>
                </a:solidFill>
                <a:latin typeface="Times New Roman" panose="02020603050405020304" pitchFamily="18" charset="0"/>
                <a:cs typeface="Times New Roman" panose="02020603050405020304" pitchFamily="18" charset="0"/>
              </a:rPr>
              <a:t>Bố cục một bài thuyết trình</a:t>
            </a:r>
          </a:p>
        </p:txBody>
      </p:sp>
      <p:sp>
        <p:nvSpPr>
          <p:cNvPr id="3" name="Subtitle 2"/>
          <p:cNvSpPr>
            <a:spLocks noGrp="1"/>
          </p:cNvSpPr>
          <p:nvPr>
            <p:ph type="subTitle" idx="1"/>
          </p:nvPr>
        </p:nvSpPr>
        <p:spPr/>
        <p:txBody>
          <a:bodyPr>
            <a:normAutofit/>
          </a:bodyPr>
          <a:lstStyle/>
          <a:p>
            <a:r>
              <a:rPr lang="en-US" sz="3200" b="1">
                <a:latin typeface="Times New Roman" panose="02020603050405020304" pitchFamily="18" charset="0"/>
                <a:cs typeface="Times New Roman" panose="02020603050405020304" pitchFamily="18" charset="0"/>
              </a:rPr>
              <a:t>NHÓM 6</a:t>
            </a:r>
          </a:p>
        </p:txBody>
      </p:sp>
    </p:spTree>
    <p:extLst>
      <p:ext uri="{BB962C8B-B14F-4D97-AF65-F5344CB8AC3E}">
        <p14:creationId xmlns:p14="http://schemas.microsoft.com/office/powerpoint/2010/main" val="1198855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72634"/>
            <a:ext cx="10515600" cy="1325563"/>
          </a:xfrm>
        </p:spPr>
        <p:txBody>
          <a:bodyPr>
            <a:normAutofit/>
          </a:bodyPr>
          <a:lstStyle/>
          <a:p>
            <a:r>
              <a:rPr lang="en-US" sz="4000" b="1">
                <a:solidFill>
                  <a:srgbClr val="996633"/>
                </a:solidFill>
                <a:latin typeface="Times New Roman" panose="02020603050405020304" pitchFamily="18" charset="0"/>
                <a:cs typeface="Times New Roman" panose="02020603050405020304" pitchFamily="18" charset="0"/>
              </a:rPr>
              <a:t>Giới thiệu</a:t>
            </a:r>
          </a:p>
        </p:txBody>
      </p:sp>
      <p:sp>
        <p:nvSpPr>
          <p:cNvPr id="3" name="Content Placeholder 2"/>
          <p:cNvSpPr>
            <a:spLocks noGrp="1"/>
          </p:cNvSpPr>
          <p:nvPr>
            <p:ph idx="1"/>
          </p:nvPr>
        </p:nvSpPr>
        <p:spPr>
          <a:xfrm>
            <a:off x="838200" y="2173968"/>
            <a:ext cx="10515600" cy="4351338"/>
          </a:xfrm>
        </p:spPr>
        <p:txBody>
          <a:bodyPr>
            <a:normAutofit/>
          </a:bodyPr>
          <a:lstStyle/>
          <a:p>
            <a:r>
              <a:rPr lang="en-US" sz="3200">
                <a:latin typeface="Times New Roman" panose="02020603050405020304" pitchFamily="18" charset="0"/>
                <a:cs typeface="Times New Roman" panose="02020603050405020304" pitchFamily="18" charset="0"/>
              </a:rPr>
              <a:t>Phần mở đầu</a:t>
            </a:r>
          </a:p>
          <a:p>
            <a:pPr lvl="1">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 Cần đạt được mục đích</a:t>
            </a:r>
          </a:p>
          <a:p>
            <a:r>
              <a:rPr lang="en-US" sz="3200">
                <a:latin typeface="Times New Roman" panose="02020603050405020304" pitchFamily="18" charset="0"/>
                <a:cs typeface="Times New Roman" panose="02020603050405020304" pitchFamily="18" charset="0"/>
              </a:rPr>
              <a:t>Phần chính</a:t>
            </a:r>
          </a:p>
          <a:p>
            <a:pPr lvl="1">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Đưa ra giải pháp, ý kiến</a:t>
            </a:r>
          </a:p>
          <a:p>
            <a:r>
              <a:rPr lang="en-US" sz="3200">
                <a:latin typeface="Times New Roman" panose="02020603050405020304" pitchFamily="18" charset="0"/>
                <a:cs typeface="Times New Roman" panose="02020603050405020304" pitchFamily="18" charset="0"/>
              </a:rPr>
              <a:t>Phần kết</a:t>
            </a:r>
          </a:p>
          <a:p>
            <a:pPr lvl="1">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Tóm tắt các nội dung đã được trình bày</a:t>
            </a:r>
          </a:p>
        </p:txBody>
      </p:sp>
    </p:spTree>
    <p:extLst>
      <p:ext uri="{BB962C8B-B14F-4D97-AF65-F5344CB8AC3E}">
        <p14:creationId xmlns:p14="http://schemas.microsoft.com/office/powerpoint/2010/main" val="3246818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72634"/>
            <a:ext cx="10515600" cy="1325563"/>
          </a:xfrm>
        </p:spPr>
        <p:txBody>
          <a:bodyPr>
            <a:normAutofit/>
          </a:bodyPr>
          <a:lstStyle/>
          <a:p>
            <a:r>
              <a:rPr lang="en-US" sz="4000" b="1">
                <a:solidFill>
                  <a:srgbClr val="996633"/>
                </a:solidFill>
                <a:latin typeface="Times New Roman" panose="02020603050405020304" pitchFamily="18" charset="0"/>
                <a:cs typeface="Times New Roman" panose="02020603050405020304" pitchFamily="18" charset="0"/>
              </a:rPr>
              <a:t>Phần mở đầu</a:t>
            </a:r>
          </a:p>
        </p:txBody>
      </p:sp>
      <p:sp>
        <p:nvSpPr>
          <p:cNvPr id="3" name="Content Placeholder 2"/>
          <p:cNvSpPr>
            <a:spLocks noGrp="1"/>
          </p:cNvSpPr>
          <p:nvPr>
            <p:ph idx="1"/>
          </p:nvPr>
        </p:nvSpPr>
        <p:spPr>
          <a:xfrm>
            <a:off x="838200" y="1898197"/>
            <a:ext cx="10515600" cy="4351338"/>
          </a:xfrm>
        </p:spPr>
        <p:txBody>
          <a:bodyPr>
            <a:normAutofit/>
          </a:bodyPr>
          <a:lstStyle/>
          <a:p>
            <a:r>
              <a:rPr lang="vi-VN" sz="3200">
                <a:latin typeface="Times New Roman" panose="02020603050405020304" pitchFamily="18" charset="0"/>
                <a:cs typeface="Times New Roman" panose="02020603050405020304" pitchFamily="18" charset="0"/>
              </a:rPr>
              <a:t>Thu hút sự chú ý của người nghe </a:t>
            </a:r>
            <a:endParaRPr lang="en-US" sz="3200">
              <a:latin typeface="Times New Roman" panose="02020603050405020304" pitchFamily="18" charset="0"/>
              <a:cs typeface="Times New Roman" panose="02020603050405020304" pitchFamily="18" charset="0"/>
            </a:endParaRPr>
          </a:p>
          <a:p>
            <a:pPr lvl="1">
              <a:buFont typeface="Times New Roman" panose="02020603050405020304" pitchFamily="18" charset="0"/>
              <a:buChar char="–"/>
            </a:pPr>
            <a:r>
              <a:rPr lang="vi-VN" sz="2800">
                <a:latin typeface="Times New Roman" panose="02020603050405020304" pitchFamily="18" charset="0"/>
                <a:cs typeface="Times New Roman" panose="02020603050405020304" pitchFamily="18" charset="0"/>
                <a:hlinkClick r:id="rId3" action="ppaction://hlinksldjump"/>
              </a:rPr>
              <a:t>Sử dụng một đoạn trích dẫn</a:t>
            </a:r>
            <a:endParaRPr lang="en-US" sz="2800">
              <a:latin typeface="Times New Roman" panose="02020603050405020304" pitchFamily="18" charset="0"/>
              <a:cs typeface="Times New Roman" panose="02020603050405020304" pitchFamily="18" charset="0"/>
            </a:endParaRPr>
          </a:p>
          <a:p>
            <a:pPr lvl="1">
              <a:buFont typeface="Times New Roman" panose="02020603050405020304" pitchFamily="18" charset="0"/>
              <a:buChar char="–"/>
            </a:pPr>
            <a:r>
              <a:rPr lang="vi-VN" sz="2800">
                <a:latin typeface="Times New Roman" panose="02020603050405020304" pitchFamily="18" charset="0"/>
                <a:cs typeface="Times New Roman" panose="02020603050405020304" pitchFamily="18" charset="0"/>
              </a:rPr>
              <a:t>Một câu hỏi </a:t>
            </a:r>
            <a:endParaRPr lang="en-US" sz="2800">
              <a:latin typeface="Times New Roman" panose="02020603050405020304" pitchFamily="18" charset="0"/>
              <a:cs typeface="Times New Roman" panose="02020603050405020304" pitchFamily="18" charset="0"/>
            </a:endParaRPr>
          </a:p>
          <a:p>
            <a:pPr lvl="1">
              <a:buFont typeface="Times New Roman" panose="02020603050405020304" pitchFamily="18" charset="0"/>
              <a:buChar char="–"/>
            </a:pPr>
            <a:r>
              <a:rPr lang="vi-VN" sz="2800">
                <a:latin typeface="Times New Roman" panose="02020603050405020304" pitchFamily="18" charset="0"/>
                <a:cs typeface="Times New Roman" panose="02020603050405020304" pitchFamily="18" charset="0"/>
              </a:rPr>
              <a:t>Một lời hứa </a:t>
            </a:r>
            <a:endParaRPr lang="en-US" sz="2800">
              <a:latin typeface="Times New Roman" panose="02020603050405020304" pitchFamily="18" charset="0"/>
              <a:cs typeface="Times New Roman" panose="02020603050405020304" pitchFamily="18" charset="0"/>
            </a:endParaRPr>
          </a:p>
          <a:p>
            <a:pPr lvl="1">
              <a:buFont typeface="Times New Roman" panose="02020603050405020304" pitchFamily="18" charset="0"/>
              <a:buChar char="–"/>
            </a:pPr>
            <a:r>
              <a:rPr lang="vi-VN" sz="2800">
                <a:latin typeface="Times New Roman" panose="02020603050405020304" pitchFamily="18" charset="0"/>
                <a:cs typeface="Times New Roman" panose="02020603050405020304" pitchFamily="18" charset="0"/>
              </a:rPr>
              <a:t>Thậm chí làm mọi người phải hoạt động </a:t>
            </a:r>
            <a:endParaRPr lang="en-US" sz="2800">
              <a:latin typeface="Times New Roman" panose="02020603050405020304" pitchFamily="18" charset="0"/>
              <a:cs typeface="Times New Roman" panose="02020603050405020304" pitchFamily="18" charset="0"/>
            </a:endParaRPr>
          </a:p>
          <a:p>
            <a:r>
              <a:rPr lang="vi-VN" sz="3200">
                <a:latin typeface="Times New Roman" panose="02020603050405020304" pitchFamily="18" charset="0"/>
                <a:cs typeface="Times New Roman" panose="02020603050405020304" pitchFamily="18" charset="0"/>
              </a:rPr>
              <a:t>Tóm lược các nội dung liên quan </a:t>
            </a:r>
            <a:endParaRPr lang="en-US" sz="3200">
              <a:latin typeface="Times New Roman" panose="02020603050405020304" pitchFamily="18" charset="0"/>
              <a:cs typeface="Times New Roman" panose="02020603050405020304" pitchFamily="18" charset="0"/>
            </a:endParaRPr>
          </a:p>
          <a:p>
            <a:pPr lvl="1">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Đã được trình bày </a:t>
            </a:r>
            <a:endParaRPr lang="en-US" sz="2800">
              <a:latin typeface="Times New Roman" panose="02020603050405020304" pitchFamily="18" charset="0"/>
              <a:cs typeface="Times New Roman" panose="02020603050405020304" pitchFamily="18" charset="0"/>
            </a:endParaRPr>
          </a:p>
          <a:p>
            <a:pPr lvl="1">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Được đa số người nghe biết rõ</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163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72634"/>
            <a:ext cx="10515600" cy="1325563"/>
          </a:xfrm>
        </p:spPr>
        <p:txBody>
          <a:bodyPr>
            <a:normAutofit/>
          </a:bodyPr>
          <a:lstStyle/>
          <a:p>
            <a:r>
              <a:rPr lang="en-US" sz="4000" b="1">
                <a:solidFill>
                  <a:srgbClr val="996633"/>
                </a:solidFill>
                <a:latin typeface="Times New Roman" panose="02020603050405020304" pitchFamily="18" charset="0"/>
                <a:cs typeface="Times New Roman" panose="02020603050405020304" pitchFamily="18" charset="0"/>
              </a:rPr>
              <a:t>Phần chính</a:t>
            </a:r>
          </a:p>
        </p:txBody>
      </p:sp>
      <p:sp>
        <p:nvSpPr>
          <p:cNvPr id="3" name="Content Placeholder 2"/>
          <p:cNvSpPr>
            <a:spLocks noGrp="1"/>
          </p:cNvSpPr>
          <p:nvPr>
            <p:ph idx="1"/>
          </p:nvPr>
        </p:nvSpPr>
        <p:spPr>
          <a:xfrm>
            <a:off x="838200" y="2173968"/>
            <a:ext cx="10515600" cy="4351338"/>
          </a:xfrm>
        </p:spPr>
        <p:txBody>
          <a:bodyPr>
            <a:normAutofit/>
          </a:bodyPr>
          <a:lstStyle/>
          <a:p>
            <a:r>
              <a:rPr lang="en-US" sz="3200">
                <a:latin typeface="Times New Roman" panose="02020603050405020304" pitchFamily="18" charset="0"/>
                <a:cs typeface="Times New Roman" panose="02020603050405020304" pitchFamily="18" charset="0"/>
              </a:rPr>
              <a:t>Phần chính với các nội dung</a:t>
            </a:r>
          </a:p>
          <a:p>
            <a:pPr lvl="1">
              <a:buFont typeface="Times New Roman" panose="02020603050405020304" pitchFamily="18" charset="0"/>
              <a:buChar char="–"/>
            </a:pPr>
            <a:r>
              <a:rPr lang="vi-VN" sz="2800"/>
              <a:t>Vấn đề cần giải quyết, yêu cầu công việc </a:t>
            </a:r>
            <a:endParaRPr lang="en-US" sz="2800"/>
          </a:p>
          <a:p>
            <a:pPr lvl="1">
              <a:buFont typeface="Times New Roman" panose="02020603050405020304" pitchFamily="18" charset="0"/>
              <a:buChar char="–"/>
            </a:pPr>
            <a:r>
              <a:rPr lang="vi-VN" sz="2800"/>
              <a:t>Ý tưởng và giải pháp </a:t>
            </a:r>
            <a:endParaRPr lang="en-US" sz="2800"/>
          </a:p>
          <a:p>
            <a:pPr lvl="1">
              <a:buFont typeface="Times New Roman" panose="02020603050405020304" pitchFamily="18" charset="0"/>
              <a:buChar char="–"/>
            </a:pPr>
            <a:r>
              <a:rPr lang="vi-VN" sz="2800">
                <a:hlinkClick r:id="rId3" action="ppaction://hlinksldjump"/>
              </a:rPr>
              <a:t>Cung cấp ví dụ để chứng minh  </a:t>
            </a:r>
            <a:endParaRPr lang="en-US" sz="2800"/>
          </a:p>
          <a:p>
            <a:pPr lvl="1">
              <a:buFont typeface="Times New Roman" panose="02020603050405020304" pitchFamily="18" charset="0"/>
              <a:buChar char="–"/>
            </a:pPr>
            <a:r>
              <a:rPr lang="vi-VN" sz="2800"/>
              <a:t>Lợi ích khi áp dụng giải pháp  </a:t>
            </a:r>
            <a:endParaRPr lang="en-US" sz="2800"/>
          </a:p>
          <a:p>
            <a:pPr lvl="1">
              <a:buFont typeface="Times New Roman" panose="02020603050405020304" pitchFamily="18" charset="0"/>
              <a:buChar char="–"/>
            </a:pPr>
            <a:r>
              <a:rPr lang="vi-VN" sz="2800"/>
              <a:t>Chương trình hành động các việc làm cụ thể</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1065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72634"/>
            <a:ext cx="10515600" cy="1325563"/>
          </a:xfrm>
        </p:spPr>
        <p:txBody>
          <a:bodyPr>
            <a:normAutofit/>
          </a:bodyPr>
          <a:lstStyle/>
          <a:p>
            <a:r>
              <a:rPr lang="en-US" sz="4000" b="1">
                <a:solidFill>
                  <a:srgbClr val="996633"/>
                </a:solidFill>
                <a:latin typeface="Times New Roman" panose="02020603050405020304" pitchFamily="18" charset="0"/>
                <a:cs typeface="Times New Roman" panose="02020603050405020304" pitchFamily="18" charset="0"/>
              </a:rPr>
              <a:t>Phần kết</a:t>
            </a:r>
          </a:p>
        </p:txBody>
      </p:sp>
      <p:sp>
        <p:nvSpPr>
          <p:cNvPr id="3" name="Content Placeholder 2"/>
          <p:cNvSpPr>
            <a:spLocks noGrp="1"/>
          </p:cNvSpPr>
          <p:nvPr>
            <p:ph idx="1"/>
          </p:nvPr>
        </p:nvSpPr>
        <p:spPr>
          <a:xfrm>
            <a:off x="838200" y="2173968"/>
            <a:ext cx="10515600" cy="4351338"/>
          </a:xfrm>
        </p:spPr>
        <p:txBody>
          <a:bodyPr>
            <a:normAutofit/>
          </a:bodyPr>
          <a:lstStyle/>
          <a:p>
            <a:r>
              <a:rPr lang="en-US" sz="3200">
                <a:latin typeface="Times New Roman" panose="02020603050405020304" pitchFamily="18" charset="0"/>
                <a:cs typeface="Times New Roman" panose="02020603050405020304" pitchFamily="18" charset="0"/>
              </a:rPr>
              <a:t>Tóm tắt</a:t>
            </a:r>
          </a:p>
          <a:p>
            <a:r>
              <a:rPr lang="en-US" sz="3200">
                <a:latin typeface="Times New Roman" panose="02020603050405020304" pitchFamily="18" charset="0"/>
                <a:cs typeface="Times New Roman" panose="02020603050405020304" pitchFamily="18" charset="0"/>
              </a:rPr>
              <a:t>Kết luận cuối cùng</a:t>
            </a:r>
          </a:p>
          <a:p>
            <a:pPr lvl="1">
              <a:buFont typeface="Times New Roman" panose="02020603050405020304" pitchFamily="18" charset="0"/>
              <a:buChar char="–"/>
            </a:pPr>
            <a:r>
              <a:rPr lang="en-US" sz="2800">
                <a:latin typeface="Times New Roman" panose="02020603050405020304" pitchFamily="18" charset="0"/>
                <a:cs typeface="Times New Roman" panose="02020603050405020304" pitchFamily="18" charset="0"/>
              </a:rPr>
              <a:t>Liệu còn điều gì bạn muốn người nghe ghi nhớ?</a:t>
            </a:r>
          </a:p>
        </p:txBody>
      </p:sp>
    </p:spTree>
    <p:extLst>
      <p:ext uri="{BB962C8B-B14F-4D97-AF65-F5344CB8AC3E}">
        <p14:creationId xmlns:p14="http://schemas.microsoft.com/office/powerpoint/2010/main" val="3520122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25286" y="2847069"/>
            <a:ext cx="10515600" cy="1325563"/>
          </a:xfrm>
        </p:spPr>
        <p:txBody>
          <a:bodyPr>
            <a:normAutofit/>
          </a:bodyPr>
          <a:lstStyle/>
          <a:p>
            <a:pPr algn="ctr"/>
            <a:r>
              <a:rPr lang="en-US" sz="4000" b="1">
                <a:latin typeface="Times New Roman" panose="02020603050405020304" pitchFamily="18" charset="0"/>
                <a:cs typeface="Times New Roman" panose="02020603050405020304" pitchFamily="18" charset="0"/>
              </a:rPr>
              <a:t>Cảm ơn sự chú ý của quý vị</a:t>
            </a:r>
          </a:p>
        </p:txBody>
      </p:sp>
    </p:spTree>
    <p:extLst>
      <p:ext uri="{BB962C8B-B14F-4D97-AF65-F5344CB8AC3E}">
        <p14:creationId xmlns:p14="http://schemas.microsoft.com/office/powerpoint/2010/main" val="1549589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659720"/>
            <a:ext cx="10515600" cy="1325563"/>
          </a:xfrm>
        </p:spPr>
        <p:txBody>
          <a:bodyPr>
            <a:normAutofit/>
          </a:bodyPr>
          <a:lstStyle/>
          <a:p>
            <a:r>
              <a:rPr lang="en-US" sz="4000" b="1">
                <a:solidFill>
                  <a:srgbClr val="996633"/>
                </a:solidFill>
                <a:latin typeface="Times New Roman" panose="02020603050405020304" pitchFamily="18" charset="0"/>
                <a:cs typeface="Times New Roman" panose="02020603050405020304" pitchFamily="18" charset="0"/>
              </a:rPr>
              <a:t>Ví dụ: sử dụng một đoạn trích dẫn khi giới thiệu</a:t>
            </a:r>
          </a:p>
        </p:txBody>
      </p:sp>
      <p:sp>
        <p:nvSpPr>
          <p:cNvPr id="3" name="Content Placeholder 2"/>
          <p:cNvSpPr>
            <a:spLocks noGrp="1"/>
          </p:cNvSpPr>
          <p:nvPr>
            <p:ph idx="1"/>
          </p:nvPr>
        </p:nvSpPr>
        <p:spPr>
          <a:xfrm>
            <a:off x="838200" y="2173968"/>
            <a:ext cx="10515600" cy="4351338"/>
          </a:xfrm>
        </p:spPr>
        <p:txBody>
          <a:bodyPr>
            <a:normAutofit/>
          </a:bodyPr>
          <a:lstStyle/>
          <a:p>
            <a:r>
              <a:rPr lang="vi-VN" sz="3200">
                <a:latin typeface="Times New Roman" panose="02020603050405020304" pitchFamily="18" charset="0"/>
                <a:cs typeface="Times New Roman" panose="02020603050405020304" pitchFamily="18" charset="0"/>
              </a:rPr>
              <a:t>Ví dụ: Ta có thể phát biểu trích dẫn lợi ích khi học ngành công nghệ thông tin</a:t>
            </a:r>
          </a:p>
          <a:p>
            <a:pPr marL="0" indent="0">
              <a:buNone/>
            </a:pPr>
            <a:r>
              <a:rPr lang="en-US" sz="3200">
                <a:latin typeface="Times New Roman" panose="02020603050405020304" pitchFamily="18" charset="0"/>
                <a:cs typeface="Times New Roman" panose="02020603050405020304" pitchFamily="18" charset="0"/>
              </a:rPr>
              <a:t>	</a:t>
            </a:r>
            <a:r>
              <a:rPr lang="vi-VN" sz="3200">
                <a:latin typeface="Times New Roman" panose="02020603050405020304" pitchFamily="18" charset="0"/>
                <a:cs typeface="Times New Roman" panose="02020603050405020304" pitchFamily="18" charset="0"/>
              </a:rPr>
              <a:t>“Hàng năm, công nghệ mới luôn được phát triển và thể hiện tầm quan trọng của nó đối với cuộc sống. Các doanh nghiệp cũng thay đôi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sz="280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D4CCDCF6-22E4-40A4-BB85-D42DD00D82D8}"/>
              </a:ext>
            </a:extLst>
          </p:cNvPr>
          <p:cNvGrpSpPr/>
          <p:nvPr/>
        </p:nvGrpSpPr>
        <p:grpSpPr>
          <a:xfrm>
            <a:off x="10868297" y="1010194"/>
            <a:ext cx="1053737" cy="1071155"/>
            <a:chOff x="10868297" y="1010194"/>
            <a:chExt cx="1053737" cy="1071155"/>
          </a:xfrm>
        </p:grpSpPr>
        <p:sp>
          <p:nvSpPr>
            <p:cNvPr id="4" name="Rectangle 3">
              <a:extLst>
                <a:ext uri="{FF2B5EF4-FFF2-40B4-BE49-F238E27FC236}">
                  <a16:creationId xmlns:a16="http://schemas.microsoft.com/office/drawing/2014/main" id="{84C9FDDE-40D3-4FEF-B5EA-D26E5149E258}"/>
                </a:ext>
              </a:extLst>
            </p:cNvPr>
            <p:cNvSpPr/>
            <p:nvPr/>
          </p:nvSpPr>
          <p:spPr>
            <a:xfrm>
              <a:off x="10868297" y="1010194"/>
              <a:ext cx="1053737" cy="1071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Turn Arrow 4">
              <a:hlinkClick r:id="rId3" action="ppaction://hlinksldjump"/>
            </p:cNvPr>
            <p:cNvSpPr/>
            <p:nvPr/>
          </p:nvSpPr>
          <p:spPr>
            <a:xfrm rot="10800000" flipH="1">
              <a:off x="11025051" y="1158240"/>
              <a:ext cx="818606" cy="827043"/>
            </a:xfrm>
            <a:prstGeom prst="uturnArrow">
              <a:avLst>
                <a:gd name="adj1" fmla="val 25000"/>
                <a:gd name="adj2" fmla="val 25000"/>
                <a:gd name="adj3" fmla="val 25000"/>
                <a:gd name="adj4" fmla="val 41568"/>
                <a:gd name="adj5" fmla="val 75000"/>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1353834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72634"/>
            <a:ext cx="10515600" cy="1325563"/>
          </a:xfrm>
        </p:spPr>
        <p:txBody>
          <a:bodyPr>
            <a:normAutofit/>
          </a:bodyPr>
          <a:lstStyle/>
          <a:p>
            <a:r>
              <a:rPr lang="en-US" sz="4000" b="1">
                <a:solidFill>
                  <a:srgbClr val="996633"/>
                </a:solidFill>
                <a:latin typeface="Times New Roman" panose="02020603050405020304" pitchFamily="18" charset="0"/>
                <a:cs typeface="Times New Roman" panose="02020603050405020304" pitchFamily="18" charset="0"/>
              </a:rPr>
              <a:t>Ví dụ minh chứng một vấn đề</a:t>
            </a:r>
          </a:p>
        </p:txBody>
      </p:sp>
      <p:sp>
        <p:nvSpPr>
          <p:cNvPr id="3" name="Content Placeholder 2"/>
          <p:cNvSpPr>
            <a:spLocks noGrp="1"/>
          </p:cNvSpPr>
          <p:nvPr>
            <p:ph idx="1"/>
          </p:nvPr>
        </p:nvSpPr>
        <p:spPr>
          <a:xfrm>
            <a:off x="838200" y="1782082"/>
            <a:ext cx="10515600" cy="4351338"/>
          </a:xfrm>
        </p:spPr>
        <p:txBody>
          <a:bodyPr>
            <a:normAutofit/>
          </a:bodyPr>
          <a:lstStyle/>
          <a:p>
            <a:r>
              <a:rPr lang="en-US" sz="3200">
                <a:latin typeface="Times New Roman" panose="02020603050405020304" pitchFamily="18" charset="0"/>
                <a:cs typeface="Times New Roman" panose="02020603050405020304" pitchFamily="18" charset="0"/>
              </a:rPr>
              <a:t>Bảng thống kê kết quả tuyển sinh 2020</a:t>
            </a:r>
          </a:p>
          <a:p>
            <a:pPr marL="0" indent="0">
              <a:buNone/>
            </a:pPr>
            <a:r>
              <a:rPr lang="en-US" sz="3200">
                <a:latin typeface="Times New Roman" panose="02020603050405020304" pitchFamily="18" charset="0"/>
                <a:cs typeface="Times New Roman" panose="02020603050405020304" pitchFamily="18" charset="0"/>
              </a:rPr>
              <a:t>	</a:t>
            </a:r>
          </a:p>
        </p:txBody>
      </p:sp>
      <p:graphicFrame>
        <p:nvGraphicFramePr>
          <p:cNvPr id="5" name="Table 4"/>
          <p:cNvGraphicFramePr>
            <a:graphicFrameLocks noGrp="1"/>
          </p:cNvGraphicFramePr>
          <p:nvPr>
            <p:extLst>
              <p:ext uri="{D42A27DB-BD31-4B8C-83A1-F6EECF244321}">
                <p14:modId xmlns:p14="http://schemas.microsoft.com/office/powerpoint/2010/main" val="4044805495"/>
              </p:ext>
            </p:extLst>
          </p:nvPr>
        </p:nvGraphicFramePr>
        <p:xfrm>
          <a:off x="838200" y="2286000"/>
          <a:ext cx="9840686" cy="3962400"/>
        </p:xfrm>
        <a:graphic>
          <a:graphicData uri="http://schemas.openxmlformats.org/drawingml/2006/table">
            <a:tbl>
              <a:tblPr firstRow="1" bandRow="1">
                <a:tableStyleId>{5940675A-B579-460E-94D1-54222C63F5DA}</a:tableStyleId>
              </a:tblPr>
              <a:tblGrid>
                <a:gridCol w="6431592">
                  <a:extLst>
                    <a:ext uri="{9D8B030D-6E8A-4147-A177-3AD203B41FA5}">
                      <a16:colId xmlns:a16="http://schemas.microsoft.com/office/drawing/2014/main" val="20000"/>
                    </a:ext>
                  </a:extLst>
                </a:gridCol>
                <a:gridCol w="3409094">
                  <a:extLst>
                    <a:ext uri="{9D8B030D-6E8A-4147-A177-3AD203B41FA5}">
                      <a16:colId xmlns:a16="http://schemas.microsoft.com/office/drawing/2014/main" val="20001"/>
                    </a:ext>
                  </a:extLst>
                </a:gridCol>
              </a:tblGrid>
              <a:tr h="370840">
                <a:tc>
                  <a:txBody>
                    <a:bodyPr/>
                    <a:lstStyle/>
                    <a:p>
                      <a:r>
                        <a:rPr lang="en-US" sz="2000"/>
                        <a:t>Tên</a:t>
                      </a:r>
                      <a:r>
                        <a:rPr lang="en-US" sz="2000" baseline="0"/>
                        <a:t> ngành/chuyên ngành</a:t>
                      </a:r>
                      <a:endParaRPr lang="en-US" sz="2000"/>
                    </a:p>
                  </a:txBody>
                  <a:tcPr>
                    <a:solidFill>
                      <a:schemeClr val="bg1"/>
                    </a:solidFill>
                  </a:tcPr>
                </a:tc>
                <a:tc>
                  <a:txBody>
                    <a:bodyPr/>
                    <a:lstStyle/>
                    <a:p>
                      <a:pPr algn="r"/>
                      <a:r>
                        <a:rPr lang="en-US" sz="2000"/>
                        <a:t>Số</a:t>
                      </a:r>
                      <a:r>
                        <a:rPr lang="en-US" sz="2000" baseline="0"/>
                        <a:t> lượng tuyển sinh</a:t>
                      </a:r>
                      <a:endParaRPr lang="en-US" sz="2000"/>
                    </a:p>
                  </a:txBody>
                  <a:tcPr>
                    <a:solidFill>
                      <a:schemeClr val="bg1"/>
                    </a:solidFill>
                  </a:tcPr>
                </a:tc>
                <a:extLst>
                  <a:ext uri="{0D108BD9-81ED-4DB2-BD59-A6C34878D82A}">
                    <a16:rowId xmlns:a16="http://schemas.microsoft.com/office/drawing/2014/main" val="10000"/>
                  </a:ext>
                </a:extLst>
              </a:tr>
              <a:tr h="370840">
                <a:tc>
                  <a:txBody>
                    <a:bodyPr/>
                    <a:lstStyle/>
                    <a:p>
                      <a:r>
                        <a:rPr lang="en-US" sz="2000"/>
                        <a:t>Công</a:t>
                      </a:r>
                      <a:r>
                        <a:rPr lang="en-US" sz="2000" baseline="0"/>
                        <a:t> nghệ thông tin</a:t>
                      </a:r>
                      <a:endParaRPr lang="en-US" sz="2000"/>
                    </a:p>
                  </a:txBody>
                  <a:tcPr>
                    <a:solidFill>
                      <a:schemeClr val="bg1"/>
                    </a:solidFill>
                  </a:tcPr>
                </a:tc>
                <a:tc>
                  <a:txBody>
                    <a:bodyPr/>
                    <a:lstStyle/>
                    <a:p>
                      <a:pPr algn="r"/>
                      <a:r>
                        <a:rPr lang="en-US" sz="2000"/>
                        <a:t>272</a:t>
                      </a:r>
                    </a:p>
                  </a:txBody>
                  <a:tcPr>
                    <a:solidFill>
                      <a:schemeClr val="bg1"/>
                    </a:solid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a:t>Công</a:t>
                      </a:r>
                      <a:r>
                        <a:rPr lang="en-US" sz="2000" baseline="0"/>
                        <a:t> nghệ thông tin - CLC</a:t>
                      </a:r>
                      <a:endParaRPr lang="en-US" sz="2000"/>
                    </a:p>
                  </a:txBody>
                  <a:tcPr>
                    <a:solidFill>
                      <a:schemeClr val="bg1"/>
                    </a:solidFill>
                  </a:tcPr>
                </a:tc>
                <a:tc>
                  <a:txBody>
                    <a:bodyPr/>
                    <a:lstStyle/>
                    <a:p>
                      <a:pPr algn="r"/>
                      <a:r>
                        <a:rPr lang="en-US" sz="2000"/>
                        <a:t>144</a:t>
                      </a:r>
                    </a:p>
                  </a:txBody>
                  <a:tcPr>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a:t>Công</a:t>
                      </a:r>
                      <a:r>
                        <a:rPr lang="en-US" sz="2000" baseline="0"/>
                        <a:t> nghệ thông tin - HA</a:t>
                      </a:r>
                      <a:endParaRPr lang="en-US" sz="2000"/>
                    </a:p>
                  </a:txBody>
                  <a:tcPr>
                    <a:solidFill>
                      <a:schemeClr val="bg1"/>
                    </a:solidFill>
                  </a:tcPr>
                </a:tc>
                <a:tc>
                  <a:txBody>
                    <a:bodyPr/>
                    <a:lstStyle/>
                    <a:p>
                      <a:pPr algn="r"/>
                      <a:r>
                        <a:rPr lang="en-US" sz="2000"/>
                        <a:t>75</a:t>
                      </a:r>
                    </a:p>
                  </a:txBody>
                  <a:tcPr>
                    <a:solidFill>
                      <a:schemeClr val="bg1"/>
                    </a:solidFill>
                  </a:tcPr>
                </a:tc>
                <a:extLst>
                  <a:ext uri="{0D108BD9-81ED-4DB2-BD59-A6C34878D82A}">
                    <a16:rowId xmlns:a16="http://schemas.microsoft.com/office/drawing/2014/main" val="10003"/>
                  </a:ext>
                </a:extLst>
              </a:tr>
              <a:tr h="370840">
                <a:tc>
                  <a:txBody>
                    <a:bodyPr/>
                    <a:lstStyle/>
                    <a:p>
                      <a:r>
                        <a:rPr lang="en-US" sz="2000"/>
                        <a:t>Mạng</a:t>
                      </a:r>
                      <a:r>
                        <a:rPr lang="en-US" sz="2000" baseline="0"/>
                        <a:t> máy tính và truyền thông dữ liệu</a:t>
                      </a:r>
                      <a:endParaRPr lang="en-US" sz="2000"/>
                    </a:p>
                  </a:txBody>
                  <a:tcPr>
                    <a:solidFill>
                      <a:schemeClr val="bg1"/>
                    </a:solidFill>
                  </a:tcPr>
                </a:tc>
                <a:tc>
                  <a:txBody>
                    <a:bodyPr/>
                    <a:lstStyle/>
                    <a:p>
                      <a:pPr algn="r"/>
                      <a:r>
                        <a:rPr lang="en-US" sz="2000"/>
                        <a:t>149</a:t>
                      </a:r>
                    </a:p>
                  </a:txBody>
                  <a:tcPr>
                    <a:solidFill>
                      <a:schemeClr val="bg1"/>
                    </a:solidFill>
                  </a:tcPr>
                </a:tc>
                <a:extLst>
                  <a:ext uri="{0D108BD9-81ED-4DB2-BD59-A6C34878D82A}">
                    <a16:rowId xmlns:a16="http://schemas.microsoft.com/office/drawing/2014/main" val="10004"/>
                  </a:ext>
                </a:extLst>
              </a:tr>
              <a:tr h="370840">
                <a:tc>
                  <a:txBody>
                    <a:bodyPr/>
                    <a:lstStyle/>
                    <a:p>
                      <a:r>
                        <a:rPr lang="en-US" sz="2000"/>
                        <a:t>Kỹ</a:t>
                      </a:r>
                      <a:r>
                        <a:rPr lang="en-US" sz="2000" baseline="0"/>
                        <a:t> thuật phần mềm</a:t>
                      </a:r>
                      <a:endParaRPr lang="en-US" sz="2000"/>
                    </a:p>
                  </a:txBody>
                  <a:tcPr>
                    <a:solidFill>
                      <a:schemeClr val="bg1"/>
                    </a:solidFill>
                  </a:tcPr>
                </a:tc>
                <a:tc>
                  <a:txBody>
                    <a:bodyPr/>
                    <a:lstStyle/>
                    <a:p>
                      <a:pPr algn="r"/>
                      <a:r>
                        <a:rPr lang="en-US" sz="2000"/>
                        <a:t>266</a:t>
                      </a:r>
                    </a:p>
                  </a:txBody>
                  <a:tcPr>
                    <a:solidFill>
                      <a:schemeClr val="bg1"/>
                    </a:solidFill>
                  </a:tcPr>
                </a:tc>
                <a:extLst>
                  <a:ext uri="{0D108BD9-81ED-4DB2-BD59-A6C34878D82A}">
                    <a16:rowId xmlns:a16="http://schemas.microsoft.com/office/drawing/2014/main" val="10005"/>
                  </a:ext>
                </a:extLst>
              </a:tr>
              <a:tr h="370840">
                <a:tc>
                  <a:txBody>
                    <a:bodyPr/>
                    <a:lstStyle/>
                    <a:p>
                      <a:r>
                        <a:rPr lang="en-US" sz="2000"/>
                        <a:t>Hệ</a:t>
                      </a:r>
                      <a:r>
                        <a:rPr lang="en-US" sz="2000" baseline="0"/>
                        <a:t> thống thông tin</a:t>
                      </a:r>
                      <a:endParaRPr lang="en-US" sz="2000"/>
                    </a:p>
                  </a:txBody>
                  <a:tcPr>
                    <a:solidFill>
                      <a:schemeClr val="bg1"/>
                    </a:solidFill>
                  </a:tcPr>
                </a:tc>
                <a:tc>
                  <a:txBody>
                    <a:bodyPr/>
                    <a:lstStyle/>
                    <a:p>
                      <a:pPr algn="r"/>
                      <a:r>
                        <a:rPr lang="en-US" sz="2000"/>
                        <a:t>135</a:t>
                      </a:r>
                    </a:p>
                  </a:txBody>
                  <a:tcPr>
                    <a:solidFill>
                      <a:schemeClr val="bg1"/>
                    </a:solidFill>
                  </a:tcPr>
                </a:tc>
                <a:extLst>
                  <a:ext uri="{0D108BD9-81ED-4DB2-BD59-A6C34878D82A}">
                    <a16:rowId xmlns:a16="http://schemas.microsoft.com/office/drawing/2014/main" val="10006"/>
                  </a:ext>
                </a:extLst>
              </a:tr>
              <a:tr h="370840">
                <a:tc>
                  <a:txBody>
                    <a:bodyPr/>
                    <a:lstStyle/>
                    <a:p>
                      <a:r>
                        <a:rPr lang="en-US" sz="2000"/>
                        <a:t>Khoa học</a:t>
                      </a:r>
                      <a:r>
                        <a:rPr lang="en-US" sz="2000" baseline="0"/>
                        <a:t> máy tính</a:t>
                      </a:r>
                      <a:endParaRPr lang="en-US" sz="2000"/>
                    </a:p>
                  </a:txBody>
                  <a:tcPr>
                    <a:solidFill>
                      <a:schemeClr val="bg1"/>
                    </a:solidFill>
                  </a:tcPr>
                </a:tc>
                <a:tc>
                  <a:txBody>
                    <a:bodyPr/>
                    <a:lstStyle/>
                    <a:p>
                      <a:pPr algn="r"/>
                      <a:r>
                        <a:rPr lang="en-US" sz="2000"/>
                        <a:t>178</a:t>
                      </a:r>
                    </a:p>
                  </a:txBody>
                  <a:tcPr>
                    <a:solidFill>
                      <a:schemeClr val="bg1"/>
                    </a:solidFill>
                  </a:tcPr>
                </a:tc>
                <a:extLst>
                  <a:ext uri="{0D108BD9-81ED-4DB2-BD59-A6C34878D82A}">
                    <a16:rowId xmlns:a16="http://schemas.microsoft.com/office/drawing/2014/main" val="10007"/>
                  </a:ext>
                </a:extLst>
              </a:tr>
              <a:tr h="370840">
                <a:tc>
                  <a:txBody>
                    <a:bodyPr/>
                    <a:lstStyle/>
                    <a:p>
                      <a:r>
                        <a:rPr lang="en-US" sz="2000"/>
                        <a:t>Tin học</a:t>
                      </a:r>
                      <a:r>
                        <a:rPr lang="en-US" sz="2000" baseline="0"/>
                        <a:t> ứng dụng</a:t>
                      </a:r>
                      <a:endParaRPr lang="en-US" sz="2000"/>
                    </a:p>
                  </a:txBody>
                  <a:tcPr>
                    <a:solidFill>
                      <a:schemeClr val="bg1"/>
                    </a:solidFill>
                  </a:tcPr>
                </a:tc>
                <a:tc>
                  <a:txBody>
                    <a:bodyPr/>
                    <a:lstStyle/>
                    <a:p>
                      <a:pPr algn="r"/>
                      <a:r>
                        <a:rPr lang="en-US" sz="2000"/>
                        <a:t>32</a:t>
                      </a:r>
                    </a:p>
                  </a:txBody>
                  <a:tcPr>
                    <a:solidFill>
                      <a:schemeClr val="bg1"/>
                    </a:solidFill>
                  </a:tcPr>
                </a:tc>
                <a:extLst>
                  <a:ext uri="{0D108BD9-81ED-4DB2-BD59-A6C34878D82A}">
                    <a16:rowId xmlns:a16="http://schemas.microsoft.com/office/drawing/2014/main" val="10008"/>
                  </a:ext>
                </a:extLst>
              </a:tr>
              <a:tr h="370840">
                <a:tc>
                  <a:txBody>
                    <a:bodyPr/>
                    <a:lstStyle/>
                    <a:p>
                      <a:r>
                        <a:rPr lang="en-US" sz="2000"/>
                        <a:t>Tổng</a:t>
                      </a:r>
                    </a:p>
                  </a:txBody>
                  <a:tcPr>
                    <a:solidFill>
                      <a:schemeClr val="bg1"/>
                    </a:solidFill>
                  </a:tcPr>
                </a:tc>
                <a:tc>
                  <a:txBody>
                    <a:bodyPr/>
                    <a:lstStyle/>
                    <a:p>
                      <a:pPr algn="r"/>
                      <a:r>
                        <a:rPr lang="en-US" sz="2000"/>
                        <a:t>1251</a:t>
                      </a:r>
                    </a:p>
                  </a:txBody>
                  <a:tcPr>
                    <a:solidFill>
                      <a:schemeClr val="bg1"/>
                    </a:solidFill>
                  </a:tcPr>
                </a:tc>
                <a:extLst>
                  <a:ext uri="{0D108BD9-81ED-4DB2-BD59-A6C34878D82A}">
                    <a16:rowId xmlns:a16="http://schemas.microsoft.com/office/drawing/2014/main" val="10009"/>
                  </a:ext>
                </a:extLst>
              </a:tr>
            </a:tbl>
          </a:graphicData>
        </a:graphic>
      </p:graphicFrame>
      <p:grpSp>
        <p:nvGrpSpPr>
          <p:cNvPr id="6" name="Group 5">
            <a:extLst>
              <a:ext uri="{FF2B5EF4-FFF2-40B4-BE49-F238E27FC236}">
                <a16:creationId xmlns:a16="http://schemas.microsoft.com/office/drawing/2014/main" id="{04DADB3C-A817-4B24-999E-78B69E24B9FD}"/>
              </a:ext>
            </a:extLst>
          </p:cNvPr>
          <p:cNvGrpSpPr/>
          <p:nvPr/>
        </p:nvGrpSpPr>
        <p:grpSpPr>
          <a:xfrm>
            <a:off x="10868297" y="1010194"/>
            <a:ext cx="1053737" cy="1071155"/>
            <a:chOff x="10868297" y="1010194"/>
            <a:chExt cx="1053737" cy="1071155"/>
          </a:xfrm>
        </p:grpSpPr>
        <p:sp>
          <p:nvSpPr>
            <p:cNvPr id="7" name="Rectangle 6">
              <a:extLst>
                <a:ext uri="{FF2B5EF4-FFF2-40B4-BE49-F238E27FC236}">
                  <a16:creationId xmlns:a16="http://schemas.microsoft.com/office/drawing/2014/main" id="{62DB5570-5E1A-44E7-A7D2-09D22943E9C2}"/>
                </a:ext>
              </a:extLst>
            </p:cNvPr>
            <p:cNvSpPr/>
            <p:nvPr/>
          </p:nvSpPr>
          <p:spPr>
            <a:xfrm>
              <a:off x="10868297" y="1010194"/>
              <a:ext cx="1053737" cy="10711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U-Turn Arrow 4">
              <a:hlinkClick r:id="rId3" action="ppaction://hlinksldjump"/>
              <a:extLst>
                <a:ext uri="{FF2B5EF4-FFF2-40B4-BE49-F238E27FC236}">
                  <a16:creationId xmlns:a16="http://schemas.microsoft.com/office/drawing/2014/main" id="{0711D268-FB4F-4FE6-AD77-AE44F9A949CB}"/>
                </a:ext>
              </a:extLst>
            </p:cNvPr>
            <p:cNvSpPr/>
            <p:nvPr/>
          </p:nvSpPr>
          <p:spPr>
            <a:xfrm rot="10800000" flipH="1">
              <a:off x="11025051" y="1158240"/>
              <a:ext cx="818606" cy="827043"/>
            </a:xfrm>
            <a:prstGeom prst="uturnArrow">
              <a:avLst>
                <a:gd name="adj1" fmla="val 25000"/>
                <a:gd name="adj2" fmla="val 25000"/>
                <a:gd name="adj3" fmla="val 25000"/>
                <a:gd name="adj4" fmla="val 41568"/>
                <a:gd name="adj5" fmla="val 75000"/>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Tree>
    <p:extLst>
      <p:ext uri="{BB962C8B-B14F-4D97-AF65-F5344CB8AC3E}">
        <p14:creationId xmlns:p14="http://schemas.microsoft.com/office/powerpoint/2010/main" val="3610417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361</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Bố cục một bài thuyết trình</dc:title>
  <dc:creator>Windows User</dc:creator>
  <cp:lastModifiedBy>user</cp:lastModifiedBy>
  <cp:revision>6</cp:revision>
  <dcterms:created xsi:type="dcterms:W3CDTF">2026-02-06T00:12:14Z</dcterms:created>
  <dcterms:modified xsi:type="dcterms:W3CDTF">2026-02-06T03:41:55Z</dcterms:modified>
</cp:coreProperties>
</file>