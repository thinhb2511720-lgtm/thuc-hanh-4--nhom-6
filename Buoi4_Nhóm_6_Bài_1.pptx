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6633"/>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0" d="100"/>
          <a:sy n="110" d="100"/>
        </p:scale>
        <p:origin x="57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A3749D1-9051-4CA9-896B-5F95AFFA1575}"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8522242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A3749D1-9051-4CA9-896B-5F95AFFA1575}"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20433603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A3749D1-9051-4CA9-896B-5F95AFFA1575}"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16310197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A3749D1-9051-4CA9-896B-5F95AFFA1575}" type="datetimeFigureOut">
              <a:rPr lang="en-US" smtClean="0"/>
              <a:t>6/2/2026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18933755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3749D1-9051-4CA9-896B-5F95AFFA1575}" type="datetimeFigureOut">
              <a:rPr lang="en-US" smtClean="0"/>
              <a:t>6/2/2026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1910124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A3749D1-9051-4CA9-896B-5F95AFFA1575}" type="datetimeFigureOut">
              <a:rPr lang="en-US" smtClean="0"/>
              <a:t>6/2/2026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2202281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A3749D1-9051-4CA9-896B-5F95AFFA1575}" type="datetimeFigureOut">
              <a:rPr lang="en-US" smtClean="0"/>
              <a:t>6/2/2026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3932889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A3749D1-9051-4CA9-896B-5F95AFFA1575}" type="datetimeFigureOut">
              <a:rPr lang="en-US" smtClean="0"/>
              <a:t>6/2/2026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8037040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A3749D1-9051-4CA9-896B-5F95AFFA1575}" type="datetimeFigureOut">
              <a:rPr lang="en-US" smtClean="0"/>
              <a:t>6/2/2026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41660877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A3749D1-9051-4CA9-896B-5F95AFFA1575}"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3834403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A3749D1-9051-4CA9-896B-5F95AFFA1575}"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9807C-1EB2-4303-B618-71CB5F6BE940}" type="slidenum">
              <a:rPr lang="en-US" smtClean="0"/>
              <a:t>‹#›</a:t>
            </a:fld>
            <a:endParaRPr lang="en-US"/>
          </a:p>
        </p:txBody>
      </p:sp>
    </p:spTree>
    <p:extLst>
      <p:ext uri="{BB962C8B-B14F-4D97-AF65-F5344CB8AC3E}">
        <p14:creationId xmlns:p14="http://schemas.microsoft.com/office/powerpoint/2010/main" val="3503955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A3749D1-9051-4CA9-896B-5F95AFFA1575}" type="datetimeFigureOut">
              <a:rPr lang="en-US" smtClean="0"/>
              <a:t>6/2/2026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C9807C-1EB2-4303-B618-71CB5F6BE940}" type="slidenum">
              <a:rPr lang="en-US" smtClean="0"/>
              <a:t>‹#›</a:t>
            </a:fld>
            <a:endParaRPr lang="en-US"/>
          </a:p>
        </p:txBody>
      </p:sp>
    </p:spTree>
    <p:extLst>
      <p:ext uri="{BB962C8B-B14F-4D97-AF65-F5344CB8AC3E}">
        <p14:creationId xmlns:p14="http://schemas.microsoft.com/office/powerpoint/2010/main" val="6209840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sz="5000" b="1" dirty="0" err="1">
                <a:solidFill>
                  <a:srgbClr val="996633"/>
                </a:solidFill>
                <a:latin typeface="Times New Roman" panose="02020603050405020304" pitchFamily="18" charset="0"/>
                <a:cs typeface="Times New Roman" panose="02020603050405020304" pitchFamily="18" charset="0"/>
              </a:rPr>
              <a:t>Bố</a:t>
            </a:r>
            <a:r>
              <a:rPr lang="en-US" sz="5000" b="1" dirty="0">
                <a:solidFill>
                  <a:srgbClr val="996633"/>
                </a:solidFill>
                <a:latin typeface="Times New Roman" panose="02020603050405020304" pitchFamily="18" charset="0"/>
                <a:cs typeface="Times New Roman" panose="02020603050405020304" pitchFamily="18" charset="0"/>
              </a:rPr>
              <a:t> </a:t>
            </a:r>
            <a:r>
              <a:rPr lang="en-US" sz="5000" b="1" dirty="0" err="1">
                <a:solidFill>
                  <a:srgbClr val="996633"/>
                </a:solidFill>
                <a:latin typeface="Times New Roman" panose="02020603050405020304" pitchFamily="18" charset="0"/>
                <a:cs typeface="Times New Roman" panose="02020603050405020304" pitchFamily="18" charset="0"/>
              </a:rPr>
              <a:t>cục</a:t>
            </a:r>
            <a:r>
              <a:rPr lang="en-US" sz="5000" b="1" dirty="0">
                <a:solidFill>
                  <a:srgbClr val="996633"/>
                </a:solidFill>
                <a:latin typeface="Times New Roman" panose="02020603050405020304" pitchFamily="18" charset="0"/>
                <a:cs typeface="Times New Roman" panose="02020603050405020304" pitchFamily="18" charset="0"/>
              </a:rPr>
              <a:t> </a:t>
            </a:r>
            <a:r>
              <a:rPr lang="en-US" sz="5000" b="1" dirty="0" err="1">
                <a:solidFill>
                  <a:srgbClr val="996633"/>
                </a:solidFill>
                <a:latin typeface="Times New Roman" panose="02020603050405020304" pitchFamily="18" charset="0"/>
                <a:cs typeface="Times New Roman" panose="02020603050405020304" pitchFamily="18" charset="0"/>
              </a:rPr>
              <a:t>một</a:t>
            </a:r>
            <a:r>
              <a:rPr lang="en-US" sz="5000" b="1" dirty="0">
                <a:solidFill>
                  <a:srgbClr val="996633"/>
                </a:solidFill>
                <a:latin typeface="Times New Roman" panose="02020603050405020304" pitchFamily="18" charset="0"/>
                <a:cs typeface="Times New Roman" panose="02020603050405020304" pitchFamily="18" charset="0"/>
              </a:rPr>
              <a:t> </a:t>
            </a:r>
            <a:r>
              <a:rPr lang="en-US" sz="5000" b="1" dirty="0" err="1">
                <a:solidFill>
                  <a:srgbClr val="996633"/>
                </a:solidFill>
                <a:latin typeface="Times New Roman" panose="02020603050405020304" pitchFamily="18" charset="0"/>
                <a:cs typeface="Times New Roman" panose="02020603050405020304" pitchFamily="18" charset="0"/>
              </a:rPr>
              <a:t>bài</a:t>
            </a:r>
            <a:r>
              <a:rPr lang="en-US" sz="5000" b="1" dirty="0">
                <a:solidFill>
                  <a:srgbClr val="996633"/>
                </a:solidFill>
                <a:latin typeface="Times New Roman" panose="02020603050405020304" pitchFamily="18" charset="0"/>
                <a:cs typeface="Times New Roman" panose="02020603050405020304" pitchFamily="18" charset="0"/>
              </a:rPr>
              <a:t> </a:t>
            </a:r>
            <a:r>
              <a:rPr lang="en-US" sz="5000" b="1" dirty="0" err="1">
                <a:solidFill>
                  <a:srgbClr val="996633"/>
                </a:solidFill>
                <a:latin typeface="Times New Roman" panose="02020603050405020304" pitchFamily="18" charset="0"/>
                <a:cs typeface="Times New Roman" panose="02020603050405020304" pitchFamily="18" charset="0"/>
              </a:rPr>
              <a:t>thuyết</a:t>
            </a:r>
            <a:r>
              <a:rPr lang="en-US" sz="5000" b="1" dirty="0">
                <a:solidFill>
                  <a:srgbClr val="996633"/>
                </a:solidFill>
                <a:latin typeface="Times New Roman" panose="02020603050405020304" pitchFamily="18" charset="0"/>
                <a:cs typeface="Times New Roman" panose="02020603050405020304" pitchFamily="18" charset="0"/>
              </a:rPr>
              <a:t> </a:t>
            </a:r>
            <a:r>
              <a:rPr lang="en-US" sz="5000" b="1" dirty="0" err="1">
                <a:solidFill>
                  <a:srgbClr val="996633"/>
                </a:solidFill>
                <a:latin typeface="Times New Roman" panose="02020603050405020304" pitchFamily="18" charset="0"/>
                <a:cs typeface="Times New Roman" panose="02020603050405020304" pitchFamily="18" charset="0"/>
              </a:rPr>
              <a:t>trình</a:t>
            </a:r>
            <a:endParaRPr lang="en-US" sz="5000" b="1" dirty="0">
              <a:solidFill>
                <a:srgbClr val="996633"/>
              </a:solidFill>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p:txBody>
          <a:bodyPr>
            <a:normAutofit/>
          </a:bodyPr>
          <a:lstStyle/>
          <a:p>
            <a:r>
              <a:rPr lang="en-US" sz="3200" b="1" dirty="0">
                <a:latin typeface="Times New Roman" panose="02020603050405020304" pitchFamily="18" charset="0"/>
                <a:cs typeface="Times New Roman" panose="02020603050405020304" pitchFamily="18" charset="0"/>
              </a:rPr>
              <a:t>NHÓM 6</a:t>
            </a:r>
          </a:p>
        </p:txBody>
      </p:sp>
    </p:spTree>
    <p:extLst>
      <p:ext uri="{BB962C8B-B14F-4D97-AF65-F5344CB8AC3E}">
        <p14:creationId xmlns:p14="http://schemas.microsoft.com/office/powerpoint/2010/main" val="119885563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wipe(down)">
                                      <p:cBhvr>
                                        <p:cTn id="10"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572634"/>
            <a:ext cx="10515600" cy="1325563"/>
          </a:xfrm>
        </p:spPr>
        <p:txBody>
          <a:bodyPr>
            <a:normAutofit/>
          </a:bodyPr>
          <a:lstStyle/>
          <a:p>
            <a:r>
              <a:rPr lang="en-US" sz="4000" b="1" dirty="0" err="1">
                <a:solidFill>
                  <a:srgbClr val="996633"/>
                </a:solidFill>
                <a:latin typeface="Times New Roman" panose="02020603050405020304" pitchFamily="18" charset="0"/>
                <a:cs typeface="Times New Roman" panose="02020603050405020304" pitchFamily="18" charset="0"/>
              </a:rPr>
              <a:t>Giới</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thiệu</a:t>
            </a:r>
            <a:endParaRPr lang="en-US" sz="4000" b="1" dirty="0">
              <a:solidFill>
                <a:srgbClr val="996633"/>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2173968"/>
            <a:ext cx="10515600" cy="4351338"/>
          </a:xfrm>
        </p:spPr>
        <p:txBody>
          <a:bodyPr>
            <a:normAutofit/>
          </a:bodyPr>
          <a:lstStyle/>
          <a:p>
            <a:r>
              <a:rPr lang="en-US" sz="3200">
                <a:latin typeface="Times New Roman" panose="02020603050405020304" pitchFamily="18" charset="0"/>
                <a:cs typeface="Times New Roman" panose="02020603050405020304" pitchFamily="18" charset="0"/>
              </a:rPr>
              <a:t>Phần mở đầu</a:t>
            </a:r>
          </a:p>
          <a:p>
            <a:pPr lvl="1">
              <a:buFont typeface="Times New Roman" panose="02020603050405020304" pitchFamily="18" charset="0"/>
              <a:buChar char="–"/>
            </a:pPr>
            <a:r>
              <a:rPr lang="en-US" sz="2800">
                <a:latin typeface="Times New Roman" panose="02020603050405020304" pitchFamily="18" charset="0"/>
                <a:cs typeface="Times New Roman" panose="02020603050405020304" pitchFamily="18" charset="0"/>
              </a:rPr>
              <a:t> Cần đạt được mục đích</a:t>
            </a:r>
          </a:p>
          <a:p>
            <a:r>
              <a:rPr lang="en-US" sz="3200">
                <a:latin typeface="Times New Roman" panose="02020603050405020304" pitchFamily="18" charset="0"/>
                <a:cs typeface="Times New Roman" panose="02020603050405020304" pitchFamily="18" charset="0"/>
              </a:rPr>
              <a:t>Phần chính</a:t>
            </a:r>
          </a:p>
          <a:p>
            <a:pPr lvl="1">
              <a:buFont typeface="Times New Roman" panose="02020603050405020304" pitchFamily="18" charset="0"/>
              <a:buChar char="–"/>
            </a:pPr>
            <a:r>
              <a:rPr lang="en-US" sz="2800">
                <a:latin typeface="Times New Roman" panose="02020603050405020304" pitchFamily="18" charset="0"/>
                <a:cs typeface="Times New Roman" panose="02020603050405020304" pitchFamily="18" charset="0"/>
              </a:rPr>
              <a:t>Đưa ra giải pháp, ý kiến</a:t>
            </a:r>
          </a:p>
          <a:p>
            <a:r>
              <a:rPr lang="en-US" sz="3200">
                <a:latin typeface="Times New Roman" panose="02020603050405020304" pitchFamily="18" charset="0"/>
                <a:cs typeface="Times New Roman" panose="02020603050405020304" pitchFamily="18" charset="0"/>
              </a:rPr>
              <a:t>Phần kết</a:t>
            </a:r>
          </a:p>
          <a:p>
            <a:pPr lvl="1">
              <a:buFont typeface="Times New Roman" panose="02020603050405020304" pitchFamily="18" charset="0"/>
              <a:buChar char="–"/>
            </a:pPr>
            <a:r>
              <a:rPr lang="en-US" sz="2800">
                <a:latin typeface="Times New Roman" panose="02020603050405020304" pitchFamily="18" charset="0"/>
                <a:cs typeface="Times New Roman" panose="02020603050405020304" pitchFamily="18" charset="0"/>
              </a:rPr>
              <a:t>Tóm tắt các nội dung đã được trình bày</a:t>
            </a:r>
          </a:p>
        </p:txBody>
      </p:sp>
    </p:spTree>
    <p:extLst>
      <p:ext uri="{BB962C8B-B14F-4D97-AF65-F5344CB8AC3E}">
        <p14:creationId xmlns:p14="http://schemas.microsoft.com/office/powerpoint/2010/main" val="324681826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wipe(down)">
                                      <p:cBhvr>
                                        <p:cTn id="10" dur="500"/>
                                        <p:tgtEl>
                                          <p:spTgt spid="3">
                                            <p:txEl>
                                              <p:pRg st="0" end="0"/>
                                            </p:txEl>
                                          </p:spTgt>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Effect transition="in" filter="wipe(down)">
                                      <p:cBhvr>
                                        <p:cTn id="13" dur="500"/>
                                        <p:tgtEl>
                                          <p:spTgt spid="3">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wipe(down)">
                                      <p:cBhvr>
                                        <p:cTn id="18" dur="500"/>
                                        <p:tgtEl>
                                          <p:spTgt spid="3">
                                            <p:txEl>
                                              <p:pRg st="2" end="2"/>
                                            </p:txEl>
                                          </p:spTgt>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wipe(down)">
                                      <p:cBhvr>
                                        <p:cTn id="21" dur="500"/>
                                        <p:tgtEl>
                                          <p:spTgt spid="3">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down)">
                                      <p:cBhvr>
                                        <p:cTn id="26" dur="500"/>
                                        <p:tgtEl>
                                          <p:spTgt spid="3">
                                            <p:txEl>
                                              <p:pRg st="4" end="4"/>
                                            </p:txEl>
                                          </p:spTgt>
                                        </p:tgtEl>
                                      </p:cBhvr>
                                    </p:animEffect>
                                  </p:childTnLst>
                                </p:cTn>
                              </p:par>
                              <p:par>
                                <p:cTn id="27" presetID="2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wipe(down)">
                                      <p:cBhvr>
                                        <p:cTn id="2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572634"/>
            <a:ext cx="10515600" cy="1325563"/>
          </a:xfrm>
        </p:spPr>
        <p:txBody>
          <a:bodyPr>
            <a:normAutofit/>
          </a:bodyPr>
          <a:lstStyle/>
          <a:p>
            <a:r>
              <a:rPr lang="en-US" sz="4000" b="1" dirty="0" err="1">
                <a:solidFill>
                  <a:srgbClr val="996633"/>
                </a:solidFill>
                <a:latin typeface="Times New Roman" panose="02020603050405020304" pitchFamily="18" charset="0"/>
                <a:cs typeface="Times New Roman" panose="02020603050405020304" pitchFamily="18" charset="0"/>
              </a:rPr>
              <a:t>Phần</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mở</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đầu</a:t>
            </a:r>
            <a:endParaRPr lang="en-US" sz="4000" b="1" dirty="0">
              <a:solidFill>
                <a:srgbClr val="996633"/>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898197"/>
            <a:ext cx="10515600" cy="4351338"/>
          </a:xfrm>
        </p:spPr>
        <p:txBody>
          <a:bodyPr>
            <a:normAutofit/>
          </a:bodyPr>
          <a:lstStyle/>
          <a:p>
            <a:r>
              <a:rPr lang="vi-VN" sz="3200" dirty="0">
                <a:latin typeface="Times New Roman" panose="02020603050405020304" pitchFamily="18" charset="0"/>
                <a:cs typeface="Times New Roman" panose="02020603050405020304" pitchFamily="18" charset="0"/>
              </a:rPr>
              <a:t>Thu hút sự chú ý của người nghe </a:t>
            </a:r>
            <a:endParaRPr lang="en-US" sz="3200" dirty="0">
              <a:latin typeface="Times New Roman" panose="02020603050405020304" pitchFamily="18" charset="0"/>
              <a:cs typeface="Times New Roman" panose="02020603050405020304" pitchFamily="18" charset="0"/>
            </a:endParaRPr>
          </a:p>
          <a:p>
            <a:pPr lvl="1">
              <a:buFont typeface="Times New Roman" panose="02020603050405020304" pitchFamily="18" charset="0"/>
              <a:buChar char="–"/>
            </a:pPr>
            <a:r>
              <a:rPr lang="vi-VN" sz="2800" dirty="0">
                <a:latin typeface="Times New Roman" panose="02020603050405020304" pitchFamily="18" charset="0"/>
                <a:cs typeface="Times New Roman" panose="02020603050405020304" pitchFamily="18" charset="0"/>
                <a:hlinkClick r:id="rId3" action="ppaction://hlinksldjump"/>
              </a:rPr>
              <a:t>Sử dụng một đoạn trích dẫn</a:t>
            </a:r>
            <a:endParaRPr lang="en-US" sz="2800" dirty="0">
              <a:latin typeface="Times New Roman" panose="02020603050405020304" pitchFamily="18" charset="0"/>
              <a:cs typeface="Times New Roman" panose="02020603050405020304" pitchFamily="18" charset="0"/>
            </a:endParaRPr>
          </a:p>
          <a:p>
            <a:pPr lvl="1">
              <a:buFont typeface="Times New Roman" panose="02020603050405020304" pitchFamily="18" charset="0"/>
              <a:buChar char="–"/>
            </a:pPr>
            <a:r>
              <a:rPr lang="vi-VN" sz="2800" dirty="0">
                <a:latin typeface="Times New Roman" panose="02020603050405020304" pitchFamily="18" charset="0"/>
                <a:cs typeface="Times New Roman" panose="02020603050405020304" pitchFamily="18" charset="0"/>
              </a:rPr>
              <a:t>Một câu hỏi </a:t>
            </a:r>
            <a:endParaRPr lang="en-US" sz="2800" dirty="0">
              <a:latin typeface="Times New Roman" panose="02020603050405020304" pitchFamily="18" charset="0"/>
              <a:cs typeface="Times New Roman" panose="02020603050405020304" pitchFamily="18" charset="0"/>
            </a:endParaRPr>
          </a:p>
          <a:p>
            <a:pPr lvl="1">
              <a:buFont typeface="Times New Roman" panose="02020603050405020304" pitchFamily="18" charset="0"/>
              <a:buChar char="–"/>
            </a:pPr>
            <a:r>
              <a:rPr lang="vi-VN" sz="2800" dirty="0">
                <a:latin typeface="Times New Roman" panose="02020603050405020304" pitchFamily="18" charset="0"/>
                <a:cs typeface="Times New Roman" panose="02020603050405020304" pitchFamily="18" charset="0"/>
              </a:rPr>
              <a:t>Một lời hứa </a:t>
            </a:r>
            <a:endParaRPr lang="en-US" sz="2800" dirty="0">
              <a:latin typeface="Times New Roman" panose="02020603050405020304" pitchFamily="18" charset="0"/>
              <a:cs typeface="Times New Roman" panose="02020603050405020304" pitchFamily="18" charset="0"/>
            </a:endParaRPr>
          </a:p>
          <a:p>
            <a:pPr lvl="1">
              <a:buFont typeface="Times New Roman" panose="02020603050405020304" pitchFamily="18" charset="0"/>
              <a:buChar char="–"/>
            </a:pPr>
            <a:r>
              <a:rPr lang="vi-VN" sz="2800" dirty="0">
                <a:latin typeface="Times New Roman" panose="02020603050405020304" pitchFamily="18" charset="0"/>
                <a:cs typeface="Times New Roman" panose="02020603050405020304" pitchFamily="18" charset="0"/>
              </a:rPr>
              <a:t>Thậm chí làm mọi người phải hoạt động </a:t>
            </a:r>
            <a:endParaRPr lang="en-US" sz="2800" dirty="0">
              <a:latin typeface="Times New Roman" panose="02020603050405020304" pitchFamily="18" charset="0"/>
              <a:cs typeface="Times New Roman" panose="02020603050405020304" pitchFamily="18" charset="0"/>
            </a:endParaRPr>
          </a:p>
          <a:p>
            <a:r>
              <a:rPr lang="vi-VN" sz="3200" dirty="0">
                <a:latin typeface="Times New Roman" panose="02020603050405020304" pitchFamily="18" charset="0"/>
                <a:cs typeface="Times New Roman" panose="02020603050405020304" pitchFamily="18" charset="0"/>
              </a:rPr>
              <a:t>Tóm lược các nội dung liên quan </a:t>
            </a:r>
            <a:endParaRPr lang="en-US" sz="3200" dirty="0">
              <a:latin typeface="Times New Roman" panose="02020603050405020304" pitchFamily="18" charset="0"/>
              <a:cs typeface="Times New Roman" panose="02020603050405020304" pitchFamily="18" charset="0"/>
            </a:endParaRPr>
          </a:p>
          <a:p>
            <a:pPr lvl="1">
              <a:buFont typeface="Times New Roman" panose="02020603050405020304" pitchFamily="18" charset="0"/>
              <a:buChar char="–"/>
            </a:pPr>
            <a:r>
              <a:rPr lang="en-US" sz="2800" dirty="0">
                <a:latin typeface="Times New Roman" panose="02020603050405020304" pitchFamily="18" charset="0"/>
                <a:cs typeface="Times New Roman" panose="02020603050405020304" pitchFamily="18" charset="0"/>
              </a:rPr>
              <a:t> </a:t>
            </a:r>
            <a:r>
              <a:rPr lang="vi-VN" sz="2800" dirty="0">
                <a:latin typeface="Times New Roman" panose="02020603050405020304" pitchFamily="18" charset="0"/>
                <a:cs typeface="Times New Roman" panose="02020603050405020304" pitchFamily="18" charset="0"/>
              </a:rPr>
              <a:t>Đã được trình bày </a:t>
            </a:r>
            <a:endParaRPr lang="en-US" sz="2800" dirty="0">
              <a:latin typeface="Times New Roman" panose="02020603050405020304" pitchFamily="18" charset="0"/>
              <a:cs typeface="Times New Roman" panose="02020603050405020304" pitchFamily="18" charset="0"/>
            </a:endParaRPr>
          </a:p>
          <a:p>
            <a:pPr lvl="1">
              <a:buFont typeface="Times New Roman" panose="02020603050405020304" pitchFamily="18" charset="0"/>
              <a:buChar char="–"/>
            </a:pPr>
            <a:r>
              <a:rPr lang="en-US" sz="2800" dirty="0">
                <a:latin typeface="Times New Roman" panose="02020603050405020304" pitchFamily="18" charset="0"/>
                <a:cs typeface="Times New Roman" panose="02020603050405020304" pitchFamily="18" charset="0"/>
              </a:rPr>
              <a:t> </a:t>
            </a:r>
            <a:r>
              <a:rPr lang="vi-VN" sz="2800" dirty="0">
                <a:latin typeface="Times New Roman" panose="02020603050405020304" pitchFamily="18" charset="0"/>
                <a:cs typeface="Times New Roman" panose="02020603050405020304" pitchFamily="18" charset="0"/>
              </a:rPr>
              <a:t>Được đa số người nghe biết rõ</a:t>
            </a:r>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4316336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fade">
                                      <p:cBhvr>
                                        <p:cTn id="18" dur="500"/>
                                        <p:tgtEl>
                                          <p:spTgt spid="3">
                                            <p:txEl>
                                              <p:pRg st="2" end="2"/>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500"/>
                                        <p:tgtEl>
                                          <p:spTgt spid="3">
                                            <p:txEl>
                                              <p:pRg st="3" end="3"/>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500"/>
                                        <p:tgtEl>
                                          <p:spTgt spid="3">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500"/>
                                        <p:tgtEl>
                                          <p:spTgt spid="3">
                                            <p:txEl>
                                              <p:pRg st="5" end="5"/>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572634"/>
            <a:ext cx="10515600" cy="1325563"/>
          </a:xfrm>
        </p:spPr>
        <p:txBody>
          <a:bodyPr>
            <a:normAutofit/>
          </a:bodyPr>
          <a:lstStyle/>
          <a:p>
            <a:r>
              <a:rPr lang="en-US" sz="4000" b="1" dirty="0" err="1">
                <a:solidFill>
                  <a:srgbClr val="996633"/>
                </a:solidFill>
                <a:latin typeface="Times New Roman" panose="02020603050405020304" pitchFamily="18" charset="0"/>
                <a:cs typeface="Times New Roman" panose="02020603050405020304" pitchFamily="18" charset="0"/>
              </a:rPr>
              <a:t>Phần</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chính</a:t>
            </a:r>
            <a:endParaRPr lang="en-US" sz="4000" b="1" dirty="0">
              <a:solidFill>
                <a:srgbClr val="996633"/>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2173968"/>
            <a:ext cx="10515600" cy="4351338"/>
          </a:xfrm>
        </p:spPr>
        <p:txBody>
          <a:bodyPr>
            <a:normAutofit/>
          </a:bodyPr>
          <a:lstStyle/>
          <a:p>
            <a:r>
              <a:rPr lang="en-US" sz="3200">
                <a:latin typeface="Times New Roman" panose="02020603050405020304" pitchFamily="18" charset="0"/>
                <a:cs typeface="Times New Roman" panose="02020603050405020304" pitchFamily="18" charset="0"/>
              </a:rPr>
              <a:t>Phần chính với các nội dung</a:t>
            </a:r>
          </a:p>
          <a:p>
            <a:pPr lvl="1">
              <a:buFont typeface="Times New Roman" panose="02020603050405020304" pitchFamily="18" charset="0"/>
              <a:buChar char="–"/>
            </a:pPr>
            <a:r>
              <a:rPr lang="vi-VN" sz="2800"/>
              <a:t>Vấn đề cần giải quyết, yêu cầu công việc </a:t>
            </a:r>
            <a:endParaRPr lang="en-US" sz="2800"/>
          </a:p>
          <a:p>
            <a:pPr lvl="1">
              <a:buFont typeface="Times New Roman" panose="02020603050405020304" pitchFamily="18" charset="0"/>
              <a:buChar char="–"/>
            </a:pPr>
            <a:r>
              <a:rPr lang="vi-VN" sz="2800"/>
              <a:t>Ý tưởng và giải pháp </a:t>
            </a:r>
            <a:endParaRPr lang="en-US" sz="2800"/>
          </a:p>
          <a:p>
            <a:pPr lvl="1">
              <a:buFont typeface="Times New Roman" panose="02020603050405020304" pitchFamily="18" charset="0"/>
              <a:buChar char="–"/>
            </a:pPr>
            <a:r>
              <a:rPr lang="vi-VN" sz="2800">
                <a:hlinkClick r:id="rId3" action="ppaction://hlinksldjump"/>
              </a:rPr>
              <a:t>Cung cấp ví dụ để chứng minh  </a:t>
            </a:r>
            <a:endParaRPr lang="en-US" sz="2800"/>
          </a:p>
          <a:p>
            <a:pPr lvl="1">
              <a:buFont typeface="Times New Roman" panose="02020603050405020304" pitchFamily="18" charset="0"/>
              <a:buChar char="–"/>
            </a:pPr>
            <a:r>
              <a:rPr lang="vi-VN" sz="2800"/>
              <a:t>Lợi ích khi áp dụng giải pháp  </a:t>
            </a:r>
            <a:endParaRPr lang="en-US" sz="2800"/>
          </a:p>
          <a:p>
            <a:pPr lvl="1">
              <a:buFont typeface="Times New Roman" panose="02020603050405020304" pitchFamily="18" charset="0"/>
              <a:buChar char="–"/>
            </a:pPr>
            <a:r>
              <a:rPr lang="vi-VN" sz="2800"/>
              <a:t>Chương trình hành động các việc làm cụ thể</a:t>
            </a:r>
            <a:endParaRPr lang="en-US" sz="28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7106500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500"/>
                                        <p:tgtEl>
                                          <p:spTgt spid="3">
                                            <p:txEl>
                                              <p:pRg st="1" end="1"/>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500"/>
                                        <p:tgtEl>
                                          <p:spTgt spid="3">
                                            <p:txEl>
                                              <p:pRg st="3" end="3"/>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572634"/>
            <a:ext cx="10515600" cy="1325563"/>
          </a:xfrm>
        </p:spPr>
        <p:txBody>
          <a:bodyPr>
            <a:normAutofit/>
          </a:bodyPr>
          <a:lstStyle/>
          <a:p>
            <a:r>
              <a:rPr lang="en-US" sz="4000" b="1" dirty="0" err="1">
                <a:solidFill>
                  <a:srgbClr val="996633"/>
                </a:solidFill>
                <a:latin typeface="Times New Roman" panose="02020603050405020304" pitchFamily="18" charset="0"/>
                <a:cs typeface="Times New Roman" panose="02020603050405020304" pitchFamily="18" charset="0"/>
              </a:rPr>
              <a:t>Phần</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kết</a:t>
            </a:r>
            <a:endParaRPr lang="en-US" sz="4000" b="1" dirty="0">
              <a:solidFill>
                <a:srgbClr val="996633"/>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2173968"/>
            <a:ext cx="10515600" cy="4351338"/>
          </a:xfrm>
        </p:spPr>
        <p:txBody>
          <a:bodyPr>
            <a:normAutofit/>
          </a:bodyPr>
          <a:lstStyle/>
          <a:p>
            <a:r>
              <a:rPr lang="en-US" sz="3200" dirty="0" err="1">
                <a:latin typeface="Times New Roman" panose="02020603050405020304" pitchFamily="18" charset="0"/>
                <a:cs typeface="Times New Roman" panose="02020603050405020304" pitchFamily="18" charset="0"/>
              </a:rPr>
              <a:t>Tóm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tắt</a:t>
            </a:r>
            <a:endParaRPr lang="en-US" sz="3200" dirty="0">
              <a:latin typeface="Times New Roman" panose="02020603050405020304" pitchFamily="18" charset="0"/>
              <a:cs typeface="Times New Roman" panose="02020603050405020304" pitchFamily="18" charset="0"/>
            </a:endParaRPr>
          </a:p>
          <a:p>
            <a:r>
              <a:rPr lang="en-US" sz="3200" dirty="0" err="1">
                <a:latin typeface="Times New Roman" panose="02020603050405020304" pitchFamily="18" charset="0"/>
                <a:cs typeface="Times New Roman" panose="02020603050405020304" pitchFamily="18" charset="0"/>
              </a:rPr>
              <a:t>Kết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luận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cuối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cùng</a:t>
            </a:r>
            <a:endParaRPr lang="en-US" sz="3200" dirty="0">
              <a:latin typeface="Times New Roman" panose="02020603050405020304" pitchFamily="18" charset="0"/>
              <a:cs typeface="Times New Roman" panose="02020603050405020304" pitchFamily="18" charset="0"/>
            </a:endParaRPr>
          </a:p>
          <a:p>
            <a:pPr lvl="1">
              <a:buFont typeface="Times New Roman" panose="02020603050405020304" pitchFamily="18" charset="0"/>
              <a:buChar char="–"/>
            </a:pPr>
            <a:r>
              <a:rPr lang="en-US" sz="2800" dirty="0" err="1">
                <a:latin typeface="Times New Roman" panose="02020603050405020304" pitchFamily="18" charset="0"/>
                <a:cs typeface="Times New Roman" panose="02020603050405020304" pitchFamily="18" charset="0"/>
              </a:rPr>
              <a:t>Liệu</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còn</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điều</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gì</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bạn</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muốn</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người</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nghe</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ghi</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nhớ</a:t>
            </a:r>
            <a:r>
              <a:rPr lang="en-US" sz="28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52012260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down)">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down)">
                                      <p:cBhvr>
                                        <p:cTn id="17" dur="500"/>
                                        <p:tgtEl>
                                          <p:spTgt spid="3">
                                            <p:txEl>
                                              <p:pRg st="1" end="1"/>
                                            </p:txEl>
                                          </p:spTgt>
                                        </p:tgtEl>
                                      </p:cBhvr>
                                    </p:animEffect>
                                  </p:childTnLst>
                                </p:cTn>
                              </p:par>
                              <p:par>
                                <p:cTn id="18" presetID="22" presetClass="entr" presetSubtype="4" fill="hold" grpId="0" nodeType="with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wipe(down)">
                                      <p:cBhvr>
                                        <p:cTn id="20"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25286" y="2847069"/>
            <a:ext cx="10515600" cy="1325563"/>
          </a:xfrm>
        </p:spPr>
        <p:txBody>
          <a:bodyPr>
            <a:normAutofit/>
          </a:bodyPr>
          <a:lstStyle/>
          <a:p>
            <a:pPr algn="ctr"/>
            <a:r>
              <a:rPr lang="en-US" sz="4000" b="1" dirty="0" err="1">
                <a:latin typeface="Times New Roman" panose="02020603050405020304" pitchFamily="18" charset="0"/>
                <a:cs typeface="Times New Roman" panose="02020603050405020304" pitchFamily="18" charset="0"/>
              </a:rPr>
              <a:t>Cảm</a:t>
            </a:r>
            <a:r>
              <a:rPr lang="en-US" sz="4000" b="1" dirty="0">
                <a:latin typeface="Times New Roman" panose="02020603050405020304" pitchFamily="18" charset="0"/>
                <a:cs typeface="Times New Roman" panose="02020603050405020304" pitchFamily="18" charset="0"/>
              </a:rPr>
              <a:t> </a:t>
            </a:r>
            <a:r>
              <a:rPr lang="en-US" sz="4000" b="1" dirty="0" err="1">
                <a:latin typeface="Times New Roman" panose="02020603050405020304" pitchFamily="18" charset="0"/>
                <a:cs typeface="Times New Roman" panose="02020603050405020304" pitchFamily="18" charset="0"/>
              </a:rPr>
              <a:t>ơn</a:t>
            </a:r>
            <a:r>
              <a:rPr lang="en-US" sz="4000" b="1" dirty="0">
                <a:latin typeface="Times New Roman" panose="02020603050405020304" pitchFamily="18" charset="0"/>
                <a:cs typeface="Times New Roman" panose="02020603050405020304" pitchFamily="18" charset="0"/>
              </a:rPr>
              <a:t> </a:t>
            </a:r>
            <a:r>
              <a:rPr lang="en-US" sz="4000" b="1" dirty="0" err="1">
                <a:latin typeface="Times New Roman" panose="02020603050405020304" pitchFamily="18" charset="0"/>
                <a:cs typeface="Times New Roman" panose="02020603050405020304" pitchFamily="18" charset="0"/>
              </a:rPr>
              <a:t>sự</a:t>
            </a:r>
            <a:r>
              <a:rPr lang="en-US" sz="4000" b="1" dirty="0">
                <a:latin typeface="Times New Roman" panose="02020603050405020304" pitchFamily="18" charset="0"/>
                <a:cs typeface="Times New Roman" panose="02020603050405020304" pitchFamily="18" charset="0"/>
              </a:rPr>
              <a:t> </a:t>
            </a:r>
            <a:r>
              <a:rPr lang="en-US" sz="4000" b="1" dirty="0" err="1">
                <a:latin typeface="Times New Roman" panose="02020603050405020304" pitchFamily="18" charset="0"/>
                <a:cs typeface="Times New Roman" panose="02020603050405020304" pitchFamily="18" charset="0"/>
              </a:rPr>
              <a:t>chú</a:t>
            </a:r>
            <a:r>
              <a:rPr lang="en-US" sz="4000" b="1" dirty="0">
                <a:latin typeface="Times New Roman" panose="02020603050405020304" pitchFamily="18" charset="0"/>
                <a:cs typeface="Times New Roman" panose="02020603050405020304" pitchFamily="18" charset="0"/>
              </a:rPr>
              <a:t> ý </a:t>
            </a:r>
            <a:r>
              <a:rPr lang="en-US" sz="4000" b="1" dirty="0" err="1">
                <a:latin typeface="Times New Roman" panose="02020603050405020304" pitchFamily="18" charset="0"/>
                <a:cs typeface="Times New Roman" panose="02020603050405020304" pitchFamily="18" charset="0"/>
              </a:rPr>
              <a:t>của</a:t>
            </a:r>
            <a:r>
              <a:rPr lang="en-US" sz="4000" b="1" dirty="0">
                <a:latin typeface="Times New Roman" panose="02020603050405020304" pitchFamily="18" charset="0"/>
                <a:cs typeface="Times New Roman" panose="02020603050405020304" pitchFamily="18" charset="0"/>
              </a:rPr>
              <a:t> </a:t>
            </a:r>
            <a:r>
              <a:rPr lang="en-US" sz="4000" b="1" dirty="0" err="1">
                <a:latin typeface="Times New Roman" panose="02020603050405020304" pitchFamily="18" charset="0"/>
                <a:cs typeface="Times New Roman" panose="02020603050405020304" pitchFamily="18" charset="0"/>
              </a:rPr>
              <a:t>quý</a:t>
            </a:r>
            <a:r>
              <a:rPr lang="en-US" sz="4000" b="1" dirty="0">
                <a:latin typeface="Times New Roman" panose="02020603050405020304" pitchFamily="18" charset="0"/>
                <a:cs typeface="Times New Roman" panose="02020603050405020304" pitchFamily="18" charset="0"/>
              </a:rPr>
              <a:t> </a:t>
            </a:r>
            <a:r>
              <a:rPr lang="en-US" sz="4000" b="1" dirty="0" err="1">
                <a:latin typeface="Times New Roman" panose="02020603050405020304" pitchFamily="18" charset="0"/>
                <a:cs typeface="Times New Roman" panose="02020603050405020304" pitchFamily="18" charset="0"/>
              </a:rPr>
              <a:t>vị</a:t>
            </a:r>
            <a:endParaRPr lang="en-US" sz="4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4958986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59720"/>
            <a:ext cx="10515600" cy="1325563"/>
          </a:xfrm>
        </p:spPr>
        <p:txBody>
          <a:bodyPr>
            <a:normAutofit/>
          </a:bodyPr>
          <a:lstStyle/>
          <a:p>
            <a:r>
              <a:rPr lang="en-US" sz="4000" b="1" dirty="0" err="1">
                <a:solidFill>
                  <a:srgbClr val="996633"/>
                </a:solidFill>
                <a:latin typeface="Times New Roman" panose="02020603050405020304" pitchFamily="18" charset="0"/>
                <a:cs typeface="Times New Roman" panose="02020603050405020304" pitchFamily="18" charset="0"/>
              </a:rPr>
              <a:t>Ví</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dụ</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sử</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dụng</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một</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đoạn</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trích</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dẫn</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khi</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giới</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thiệu</a:t>
            </a:r>
            <a:endParaRPr lang="en-US" sz="4000" b="1" dirty="0">
              <a:solidFill>
                <a:srgbClr val="996633"/>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2173968"/>
            <a:ext cx="10515600" cy="4351338"/>
          </a:xfrm>
        </p:spPr>
        <p:txBody>
          <a:bodyPr>
            <a:normAutofit/>
          </a:bodyPr>
          <a:lstStyle/>
          <a:p>
            <a:r>
              <a:rPr lang="vi-VN" sz="3200" dirty="0">
                <a:latin typeface="Times New Roman" panose="02020603050405020304" pitchFamily="18" charset="0"/>
                <a:cs typeface="Times New Roman" panose="02020603050405020304" pitchFamily="18" charset="0"/>
              </a:rPr>
              <a:t>Ví dụ: Ta có thể phát biểu trích dẫn lợi ích khi học ngành công nghệ thông tin</a:t>
            </a:r>
          </a:p>
          <a:p>
            <a:pPr marL="0" indent="0">
              <a:buNone/>
            </a:pPr>
            <a:r>
              <a:rPr lang="en-US" sz="3200" dirty="0">
                <a:latin typeface="Times New Roman" panose="02020603050405020304" pitchFamily="18" charset="0"/>
                <a:cs typeface="Times New Roman" panose="02020603050405020304" pitchFamily="18" charset="0"/>
              </a:rPr>
              <a:t>	</a:t>
            </a:r>
            <a:r>
              <a:rPr lang="vi-VN" sz="3200" dirty="0">
                <a:latin typeface="Times New Roman" panose="02020603050405020304" pitchFamily="18" charset="0"/>
                <a:cs typeface="Times New Roman" panose="02020603050405020304" pitchFamily="18" charset="0"/>
              </a:rPr>
              <a:t>“Hàng năm, công nghệ mới luôn được phát triển và thể hiện tầm quan trọng của nó đối với cuộc sống. Các doanh nghiệp cũng thay đôi theo hướng cập nhật công nghệ thông tin và yêu cầu sự thay đổi về nhân sự giỏi công nghệ. Ngành học CNTT được coi là lĩnh vực ngày một phát triển và trở nên hữu ích cho các bạn muốn xây dựng sự nghiệp với ngành này. Vậy những lợi ích khi học ngành CNTT là gì?"</a:t>
            </a:r>
            <a:endParaRPr lang="en-US" sz="2800" dirty="0">
              <a:latin typeface="Times New Roman" panose="02020603050405020304" pitchFamily="18" charset="0"/>
              <a:cs typeface="Times New Roman" panose="02020603050405020304" pitchFamily="18" charset="0"/>
            </a:endParaRPr>
          </a:p>
        </p:txBody>
      </p:sp>
      <p:grpSp>
        <p:nvGrpSpPr>
          <p:cNvPr id="6" name="Group 5">
            <a:extLst>
              <a:ext uri="{FF2B5EF4-FFF2-40B4-BE49-F238E27FC236}">
                <a16:creationId xmlns:a16="http://schemas.microsoft.com/office/drawing/2014/main" id="{D4CCDCF6-22E4-40A4-BB85-D42DD00D82D8}"/>
              </a:ext>
            </a:extLst>
          </p:cNvPr>
          <p:cNvGrpSpPr/>
          <p:nvPr/>
        </p:nvGrpSpPr>
        <p:grpSpPr>
          <a:xfrm>
            <a:off x="10868297" y="1010194"/>
            <a:ext cx="1053737" cy="1071155"/>
            <a:chOff x="10868297" y="1010194"/>
            <a:chExt cx="1053737" cy="1071155"/>
          </a:xfrm>
        </p:grpSpPr>
        <p:sp>
          <p:nvSpPr>
            <p:cNvPr id="4" name="Rectangle 3">
              <a:extLst>
                <a:ext uri="{FF2B5EF4-FFF2-40B4-BE49-F238E27FC236}">
                  <a16:creationId xmlns:a16="http://schemas.microsoft.com/office/drawing/2014/main" id="{84C9FDDE-40D3-4FEF-B5EA-D26E5149E258}"/>
                </a:ext>
              </a:extLst>
            </p:cNvPr>
            <p:cNvSpPr/>
            <p:nvPr/>
          </p:nvSpPr>
          <p:spPr>
            <a:xfrm>
              <a:off x="10868297" y="1010194"/>
              <a:ext cx="1053737" cy="10711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U-Turn Arrow 4">
              <a:hlinkClick r:id="rId3" action="ppaction://hlinksldjump"/>
            </p:cNvPr>
            <p:cNvSpPr/>
            <p:nvPr/>
          </p:nvSpPr>
          <p:spPr>
            <a:xfrm rot="10800000" flipH="1">
              <a:off x="11025051" y="1158240"/>
              <a:ext cx="818606" cy="827043"/>
            </a:xfrm>
            <a:prstGeom prst="uturnArrow">
              <a:avLst>
                <a:gd name="adj1" fmla="val 25000"/>
                <a:gd name="adj2" fmla="val 25000"/>
                <a:gd name="adj3" fmla="val 25000"/>
                <a:gd name="adj4" fmla="val 41568"/>
                <a:gd name="adj5" fmla="val 75000"/>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Tree>
    <p:extLst>
      <p:ext uri="{BB962C8B-B14F-4D97-AF65-F5344CB8AC3E}">
        <p14:creationId xmlns:p14="http://schemas.microsoft.com/office/powerpoint/2010/main" val="135383431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572634"/>
            <a:ext cx="10515600" cy="1325563"/>
          </a:xfrm>
        </p:spPr>
        <p:txBody>
          <a:bodyPr>
            <a:normAutofit/>
          </a:bodyPr>
          <a:lstStyle/>
          <a:p>
            <a:r>
              <a:rPr lang="en-US" sz="4000" b="1" dirty="0" err="1">
                <a:solidFill>
                  <a:srgbClr val="996633"/>
                </a:solidFill>
                <a:latin typeface="Times New Roman" panose="02020603050405020304" pitchFamily="18" charset="0"/>
                <a:cs typeface="Times New Roman" panose="02020603050405020304" pitchFamily="18" charset="0"/>
              </a:rPr>
              <a:t>Ví</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dụ</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minh</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chứng</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một</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vấn</a:t>
            </a:r>
            <a:r>
              <a:rPr lang="en-US" sz="4000" b="1" dirty="0">
                <a:solidFill>
                  <a:srgbClr val="996633"/>
                </a:solidFill>
                <a:latin typeface="Times New Roman" panose="02020603050405020304" pitchFamily="18" charset="0"/>
                <a:cs typeface="Times New Roman" panose="02020603050405020304" pitchFamily="18" charset="0"/>
              </a:rPr>
              <a:t> </a:t>
            </a:r>
            <a:r>
              <a:rPr lang="en-US" sz="4000" b="1" dirty="0" err="1">
                <a:solidFill>
                  <a:srgbClr val="996633"/>
                </a:solidFill>
                <a:latin typeface="Times New Roman" panose="02020603050405020304" pitchFamily="18" charset="0"/>
                <a:cs typeface="Times New Roman" panose="02020603050405020304" pitchFamily="18" charset="0"/>
              </a:rPr>
              <a:t>đề</a:t>
            </a:r>
            <a:endParaRPr lang="en-US" sz="4000" b="1" dirty="0">
              <a:solidFill>
                <a:srgbClr val="996633"/>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782082"/>
            <a:ext cx="10515600" cy="4351338"/>
          </a:xfrm>
        </p:spPr>
        <p:txBody>
          <a:bodyPr>
            <a:normAutofit/>
          </a:bodyPr>
          <a:lstStyle/>
          <a:p>
            <a:r>
              <a:rPr lang="en-US" sz="3200" dirty="0" err="1">
                <a:latin typeface="Times New Roman" panose="02020603050405020304" pitchFamily="18" charset="0"/>
                <a:cs typeface="Times New Roman" panose="02020603050405020304" pitchFamily="18" charset="0"/>
              </a:rPr>
              <a:t>Bảng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kê</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tuyển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sinh</a:t>
            </a:r>
            <a:r>
              <a:rPr lang="en-US" sz="3200" dirty="0">
                <a:latin typeface="Times New Roman" panose="02020603050405020304" pitchFamily="18" charset="0"/>
                <a:cs typeface="Times New Roman" panose="02020603050405020304" pitchFamily="18" charset="0"/>
              </a:rPr>
              <a:t> 2020</a:t>
            </a:r>
          </a:p>
          <a:p>
            <a:pPr marL="0" indent="0">
              <a:buNone/>
            </a:pPr>
            <a:r>
              <a:rPr lang="en-US" sz="3200" dirty="0">
                <a:latin typeface="Times New Roman" panose="02020603050405020304" pitchFamily="18" charset="0"/>
                <a:cs typeface="Times New Roman" panose="02020603050405020304" pitchFamily="18" charset="0"/>
              </a:rPr>
              <a:t>	</a:t>
            </a:r>
          </a:p>
        </p:txBody>
      </p:sp>
      <p:graphicFrame>
        <p:nvGraphicFramePr>
          <p:cNvPr id="5" name="Table 4"/>
          <p:cNvGraphicFramePr>
            <a:graphicFrameLocks noGrp="1"/>
          </p:cNvGraphicFramePr>
          <p:nvPr>
            <p:extLst>
              <p:ext uri="{D42A27DB-BD31-4B8C-83A1-F6EECF244321}">
                <p14:modId xmlns:p14="http://schemas.microsoft.com/office/powerpoint/2010/main" val="4044805495"/>
              </p:ext>
            </p:extLst>
          </p:nvPr>
        </p:nvGraphicFramePr>
        <p:xfrm>
          <a:off x="838200" y="2286000"/>
          <a:ext cx="9840686" cy="3962400"/>
        </p:xfrm>
        <a:graphic>
          <a:graphicData uri="http://schemas.openxmlformats.org/drawingml/2006/table">
            <a:tbl>
              <a:tblPr firstRow="1" bandRow="1">
                <a:tableStyleId>{5940675A-B579-460E-94D1-54222C63F5DA}</a:tableStyleId>
              </a:tblPr>
              <a:tblGrid>
                <a:gridCol w="6431592">
                  <a:extLst>
                    <a:ext uri="{9D8B030D-6E8A-4147-A177-3AD203B41FA5}">
                      <a16:colId xmlns:a16="http://schemas.microsoft.com/office/drawing/2014/main" val="20000"/>
                    </a:ext>
                  </a:extLst>
                </a:gridCol>
                <a:gridCol w="3409094">
                  <a:extLst>
                    <a:ext uri="{9D8B030D-6E8A-4147-A177-3AD203B41FA5}">
                      <a16:colId xmlns:a16="http://schemas.microsoft.com/office/drawing/2014/main" val="20001"/>
                    </a:ext>
                  </a:extLst>
                </a:gridCol>
              </a:tblGrid>
              <a:tr h="370840">
                <a:tc>
                  <a:txBody>
                    <a:bodyPr/>
                    <a:lstStyle/>
                    <a:p>
                      <a:r>
                        <a:rPr lang="en-US" sz="2000"/>
                        <a:t>Tên</a:t>
                      </a:r>
                      <a:r>
                        <a:rPr lang="en-US" sz="2000" baseline="0"/>
                        <a:t> ngành/chuyên ngành</a:t>
                      </a:r>
                      <a:endParaRPr lang="en-US" sz="2000"/>
                    </a:p>
                  </a:txBody>
                  <a:tcPr>
                    <a:solidFill>
                      <a:schemeClr val="bg1"/>
                    </a:solidFill>
                  </a:tcPr>
                </a:tc>
                <a:tc>
                  <a:txBody>
                    <a:bodyPr/>
                    <a:lstStyle/>
                    <a:p>
                      <a:pPr algn="r"/>
                      <a:r>
                        <a:rPr lang="en-US" sz="2000"/>
                        <a:t>Số</a:t>
                      </a:r>
                      <a:r>
                        <a:rPr lang="en-US" sz="2000" baseline="0"/>
                        <a:t> lượng tuyển sinh</a:t>
                      </a:r>
                      <a:endParaRPr lang="en-US" sz="2000"/>
                    </a:p>
                  </a:txBody>
                  <a:tcPr>
                    <a:solidFill>
                      <a:schemeClr val="bg1"/>
                    </a:solidFill>
                  </a:tcPr>
                </a:tc>
                <a:extLst>
                  <a:ext uri="{0D108BD9-81ED-4DB2-BD59-A6C34878D82A}">
                    <a16:rowId xmlns:a16="http://schemas.microsoft.com/office/drawing/2014/main" val="10000"/>
                  </a:ext>
                </a:extLst>
              </a:tr>
              <a:tr h="370840">
                <a:tc>
                  <a:txBody>
                    <a:bodyPr/>
                    <a:lstStyle/>
                    <a:p>
                      <a:r>
                        <a:rPr lang="en-US" sz="2000"/>
                        <a:t>Công</a:t>
                      </a:r>
                      <a:r>
                        <a:rPr lang="en-US" sz="2000" baseline="0"/>
                        <a:t> nghệ thông tin</a:t>
                      </a:r>
                      <a:endParaRPr lang="en-US" sz="2000"/>
                    </a:p>
                  </a:txBody>
                  <a:tcPr>
                    <a:solidFill>
                      <a:schemeClr val="bg1"/>
                    </a:solidFill>
                  </a:tcPr>
                </a:tc>
                <a:tc>
                  <a:txBody>
                    <a:bodyPr/>
                    <a:lstStyle/>
                    <a:p>
                      <a:pPr algn="r"/>
                      <a:r>
                        <a:rPr lang="en-US" sz="2000"/>
                        <a:t>272</a:t>
                      </a:r>
                    </a:p>
                  </a:txBody>
                  <a:tcPr>
                    <a:solidFill>
                      <a:schemeClr val="bg1"/>
                    </a:solidFill>
                  </a:tcPr>
                </a:tc>
                <a:extLst>
                  <a:ext uri="{0D108BD9-81ED-4DB2-BD59-A6C34878D82A}">
                    <a16:rowId xmlns:a16="http://schemas.microsoft.com/office/drawing/2014/main" val="10001"/>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a:t>Công</a:t>
                      </a:r>
                      <a:r>
                        <a:rPr lang="en-US" sz="2000" baseline="0"/>
                        <a:t> nghệ thông tin - CLC</a:t>
                      </a:r>
                      <a:endParaRPr lang="en-US" sz="2000"/>
                    </a:p>
                  </a:txBody>
                  <a:tcPr>
                    <a:solidFill>
                      <a:schemeClr val="bg1"/>
                    </a:solidFill>
                  </a:tcPr>
                </a:tc>
                <a:tc>
                  <a:txBody>
                    <a:bodyPr/>
                    <a:lstStyle/>
                    <a:p>
                      <a:pPr algn="r"/>
                      <a:r>
                        <a:rPr lang="en-US" sz="2000"/>
                        <a:t>144</a:t>
                      </a:r>
                    </a:p>
                  </a:txBody>
                  <a:tcPr>
                    <a:solidFill>
                      <a:schemeClr val="bg1"/>
                    </a:solidFill>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err="1"/>
                        <a:t>Công</a:t>
                      </a:r>
                      <a:r>
                        <a:rPr lang="en-US" sz="2000" baseline="0" dirty="0"/>
                        <a:t> </a:t>
                      </a:r>
                      <a:r>
                        <a:rPr lang="en-US" sz="2000" baseline="0" dirty="0" err="1"/>
                        <a:t>nghệ</a:t>
                      </a:r>
                      <a:r>
                        <a:rPr lang="en-US" sz="2000" baseline="0" dirty="0"/>
                        <a:t> </a:t>
                      </a:r>
                      <a:r>
                        <a:rPr lang="en-US" sz="2000" baseline="0" dirty="0" err="1"/>
                        <a:t>thông</a:t>
                      </a:r>
                      <a:r>
                        <a:rPr lang="en-US" sz="2000" baseline="0" dirty="0"/>
                        <a:t> tin - HA</a:t>
                      </a:r>
                      <a:endParaRPr lang="en-US" sz="2000" dirty="0"/>
                    </a:p>
                  </a:txBody>
                  <a:tcPr>
                    <a:solidFill>
                      <a:schemeClr val="bg1"/>
                    </a:solidFill>
                  </a:tcPr>
                </a:tc>
                <a:tc>
                  <a:txBody>
                    <a:bodyPr/>
                    <a:lstStyle/>
                    <a:p>
                      <a:pPr algn="r"/>
                      <a:r>
                        <a:rPr lang="en-US" sz="2000"/>
                        <a:t>75</a:t>
                      </a:r>
                    </a:p>
                  </a:txBody>
                  <a:tcPr>
                    <a:solidFill>
                      <a:schemeClr val="bg1"/>
                    </a:solidFill>
                  </a:tcPr>
                </a:tc>
                <a:extLst>
                  <a:ext uri="{0D108BD9-81ED-4DB2-BD59-A6C34878D82A}">
                    <a16:rowId xmlns:a16="http://schemas.microsoft.com/office/drawing/2014/main" val="10003"/>
                  </a:ext>
                </a:extLst>
              </a:tr>
              <a:tr h="370840">
                <a:tc>
                  <a:txBody>
                    <a:bodyPr/>
                    <a:lstStyle/>
                    <a:p>
                      <a:r>
                        <a:rPr lang="en-US" sz="2000"/>
                        <a:t>Mạng</a:t>
                      </a:r>
                      <a:r>
                        <a:rPr lang="en-US" sz="2000" baseline="0"/>
                        <a:t> máy tính và truyền thông dữ liệu</a:t>
                      </a:r>
                      <a:endParaRPr lang="en-US" sz="2000"/>
                    </a:p>
                  </a:txBody>
                  <a:tcPr>
                    <a:solidFill>
                      <a:schemeClr val="bg1"/>
                    </a:solidFill>
                  </a:tcPr>
                </a:tc>
                <a:tc>
                  <a:txBody>
                    <a:bodyPr/>
                    <a:lstStyle/>
                    <a:p>
                      <a:pPr algn="r"/>
                      <a:r>
                        <a:rPr lang="en-US" sz="2000"/>
                        <a:t>149</a:t>
                      </a:r>
                    </a:p>
                  </a:txBody>
                  <a:tcPr>
                    <a:solidFill>
                      <a:schemeClr val="bg1"/>
                    </a:solidFill>
                  </a:tcPr>
                </a:tc>
                <a:extLst>
                  <a:ext uri="{0D108BD9-81ED-4DB2-BD59-A6C34878D82A}">
                    <a16:rowId xmlns:a16="http://schemas.microsoft.com/office/drawing/2014/main" val="10004"/>
                  </a:ext>
                </a:extLst>
              </a:tr>
              <a:tr h="370840">
                <a:tc>
                  <a:txBody>
                    <a:bodyPr/>
                    <a:lstStyle/>
                    <a:p>
                      <a:r>
                        <a:rPr lang="en-US" sz="2000"/>
                        <a:t>Kỹ</a:t>
                      </a:r>
                      <a:r>
                        <a:rPr lang="en-US" sz="2000" baseline="0"/>
                        <a:t> thuật phần mềm</a:t>
                      </a:r>
                      <a:endParaRPr lang="en-US" sz="2000"/>
                    </a:p>
                  </a:txBody>
                  <a:tcPr>
                    <a:solidFill>
                      <a:schemeClr val="bg1"/>
                    </a:solidFill>
                  </a:tcPr>
                </a:tc>
                <a:tc>
                  <a:txBody>
                    <a:bodyPr/>
                    <a:lstStyle/>
                    <a:p>
                      <a:pPr algn="r"/>
                      <a:r>
                        <a:rPr lang="en-US" sz="2000"/>
                        <a:t>266</a:t>
                      </a:r>
                    </a:p>
                  </a:txBody>
                  <a:tcPr>
                    <a:solidFill>
                      <a:schemeClr val="bg1"/>
                    </a:solidFill>
                  </a:tcPr>
                </a:tc>
                <a:extLst>
                  <a:ext uri="{0D108BD9-81ED-4DB2-BD59-A6C34878D82A}">
                    <a16:rowId xmlns:a16="http://schemas.microsoft.com/office/drawing/2014/main" val="10005"/>
                  </a:ext>
                </a:extLst>
              </a:tr>
              <a:tr h="370840">
                <a:tc>
                  <a:txBody>
                    <a:bodyPr/>
                    <a:lstStyle/>
                    <a:p>
                      <a:r>
                        <a:rPr lang="en-US" sz="2000"/>
                        <a:t>Hệ</a:t>
                      </a:r>
                      <a:r>
                        <a:rPr lang="en-US" sz="2000" baseline="0"/>
                        <a:t> thống thông tin</a:t>
                      </a:r>
                      <a:endParaRPr lang="en-US" sz="2000"/>
                    </a:p>
                  </a:txBody>
                  <a:tcPr>
                    <a:solidFill>
                      <a:schemeClr val="bg1"/>
                    </a:solidFill>
                  </a:tcPr>
                </a:tc>
                <a:tc>
                  <a:txBody>
                    <a:bodyPr/>
                    <a:lstStyle/>
                    <a:p>
                      <a:pPr algn="r"/>
                      <a:r>
                        <a:rPr lang="en-US" sz="2000"/>
                        <a:t>135</a:t>
                      </a:r>
                    </a:p>
                  </a:txBody>
                  <a:tcPr>
                    <a:solidFill>
                      <a:schemeClr val="bg1"/>
                    </a:solidFill>
                  </a:tcPr>
                </a:tc>
                <a:extLst>
                  <a:ext uri="{0D108BD9-81ED-4DB2-BD59-A6C34878D82A}">
                    <a16:rowId xmlns:a16="http://schemas.microsoft.com/office/drawing/2014/main" val="10006"/>
                  </a:ext>
                </a:extLst>
              </a:tr>
              <a:tr h="370840">
                <a:tc>
                  <a:txBody>
                    <a:bodyPr/>
                    <a:lstStyle/>
                    <a:p>
                      <a:r>
                        <a:rPr lang="en-US" sz="2000"/>
                        <a:t>Khoa học</a:t>
                      </a:r>
                      <a:r>
                        <a:rPr lang="en-US" sz="2000" baseline="0"/>
                        <a:t> máy tính</a:t>
                      </a:r>
                      <a:endParaRPr lang="en-US" sz="2000"/>
                    </a:p>
                  </a:txBody>
                  <a:tcPr>
                    <a:solidFill>
                      <a:schemeClr val="bg1"/>
                    </a:solidFill>
                  </a:tcPr>
                </a:tc>
                <a:tc>
                  <a:txBody>
                    <a:bodyPr/>
                    <a:lstStyle/>
                    <a:p>
                      <a:pPr algn="r"/>
                      <a:r>
                        <a:rPr lang="en-US" sz="2000"/>
                        <a:t>178</a:t>
                      </a:r>
                    </a:p>
                  </a:txBody>
                  <a:tcPr>
                    <a:solidFill>
                      <a:schemeClr val="bg1"/>
                    </a:solidFill>
                  </a:tcPr>
                </a:tc>
                <a:extLst>
                  <a:ext uri="{0D108BD9-81ED-4DB2-BD59-A6C34878D82A}">
                    <a16:rowId xmlns:a16="http://schemas.microsoft.com/office/drawing/2014/main" val="10007"/>
                  </a:ext>
                </a:extLst>
              </a:tr>
              <a:tr h="370840">
                <a:tc>
                  <a:txBody>
                    <a:bodyPr/>
                    <a:lstStyle/>
                    <a:p>
                      <a:r>
                        <a:rPr lang="en-US" sz="2000"/>
                        <a:t>Tin học</a:t>
                      </a:r>
                      <a:r>
                        <a:rPr lang="en-US" sz="2000" baseline="0"/>
                        <a:t> ứng dụng</a:t>
                      </a:r>
                      <a:endParaRPr lang="en-US" sz="2000"/>
                    </a:p>
                  </a:txBody>
                  <a:tcPr>
                    <a:solidFill>
                      <a:schemeClr val="bg1"/>
                    </a:solidFill>
                  </a:tcPr>
                </a:tc>
                <a:tc>
                  <a:txBody>
                    <a:bodyPr/>
                    <a:lstStyle/>
                    <a:p>
                      <a:pPr algn="r"/>
                      <a:r>
                        <a:rPr lang="en-US" sz="2000"/>
                        <a:t>32</a:t>
                      </a:r>
                    </a:p>
                  </a:txBody>
                  <a:tcPr>
                    <a:solidFill>
                      <a:schemeClr val="bg1"/>
                    </a:solidFill>
                  </a:tcPr>
                </a:tc>
                <a:extLst>
                  <a:ext uri="{0D108BD9-81ED-4DB2-BD59-A6C34878D82A}">
                    <a16:rowId xmlns:a16="http://schemas.microsoft.com/office/drawing/2014/main" val="10008"/>
                  </a:ext>
                </a:extLst>
              </a:tr>
              <a:tr h="370840">
                <a:tc>
                  <a:txBody>
                    <a:bodyPr/>
                    <a:lstStyle/>
                    <a:p>
                      <a:r>
                        <a:rPr lang="en-US" sz="2000"/>
                        <a:t>Tổng</a:t>
                      </a:r>
                    </a:p>
                  </a:txBody>
                  <a:tcPr>
                    <a:solidFill>
                      <a:schemeClr val="bg1"/>
                    </a:solidFill>
                  </a:tcPr>
                </a:tc>
                <a:tc>
                  <a:txBody>
                    <a:bodyPr/>
                    <a:lstStyle/>
                    <a:p>
                      <a:pPr algn="r"/>
                      <a:r>
                        <a:rPr lang="en-US" sz="2000" dirty="0"/>
                        <a:t>1251</a:t>
                      </a:r>
                    </a:p>
                  </a:txBody>
                  <a:tcPr>
                    <a:solidFill>
                      <a:schemeClr val="bg1"/>
                    </a:solidFill>
                  </a:tcPr>
                </a:tc>
                <a:extLst>
                  <a:ext uri="{0D108BD9-81ED-4DB2-BD59-A6C34878D82A}">
                    <a16:rowId xmlns:a16="http://schemas.microsoft.com/office/drawing/2014/main" val="10009"/>
                  </a:ext>
                </a:extLst>
              </a:tr>
            </a:tbl>
          </a:graphicData>
        </a:graphic>
      </p:graphicFrame>
      <p:grpSp>
        <p:nvGrpSpPr>
          <p:cNvPr id="6" name="Group 5">
            <a:extLst>
              <a:ext uri="{FF2B5EF4-FFF2-40B4-BE49-F238E27FC236}">
                <a16:creationId xmlns:a16="http://schemas.microsoft.com/office/drawing/2014/main" id="{04DADB3C-A817-4B24-999E-78B69E24B9FD}"/>
              </a:ext>
            </a:extLst>
          </p:cNvPr>
          <p:cNvGrpSpPr/>
          <p:nvPr/>
        </p:nvGrpSpPr>
        <p:grpSpPr>
          <a:xfrm>
            <a:off x="10868297" y="1010194"/>
            <a:ext cx="1053737" cy="1071155"/>
            <a:chOff x="10868297" y="1010194"/>
            <a:chExt cx="1053737" cy="1071155"/>
          </a:xfrm>
        </p:grpSpPr>
        <p:sp>
          <p:nvSpPr>
            <p:cNvPr id="7" name="Rectangle 6">
              <a:extLst>
                <a:ext uri="{FF2B5EF4-FFF2-40B4-BE49-F238E27FC236}">
                  <a16:creationId xmlns:a16="http://schemas.microsoft.com/office/drawing/2014/main" id="{62DB5570-5E1A-44E7-A7D2-09D22943E9C2}"/>
                </a:ext>
              </a:extLst>
            </p:cNvPr>
            <p:cNvSpPr/>
            <p:nvPr/>
          </p:nvSpPr>
          <p:spPr>
            <a:xfrm>
              <a:off x="10868297" y="1010194"/>
              <a:ext cx="1053737" cy="10711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U-Turn Arrow 4">
              <a:hlinkClick r:id="rId3" action="ppaction://hlinksldjump"/>
              <a:extLst>
                <a:ext uri="{FF2B5EF4-FFF2-40B4-BE49-F238E27FC236}">
                  <a16:creationId xmlns:a16="http://schemas.microsoft.com/office/drawing/2014/main" id="{0711D268-FB4F-4FE6-AD77-AE44F9A949CB}"/>
                </a:ext>
              </a:extLst>
            </p:cNvPr>
            <p:cNvSpPr/>
            <p:nvPr/>
          </p:nvSpPr>
          <p:spPr>
            <a:xfrm rot="10800000" flipH="1">
              <a:off x="11025051" y="1158240"/>
              <a:ext cx="818606" cy="827043"/>
            </a:xfrm>
            <a:prstGeom prst="uturnArrow">
              <a:avLst>
                <a:gd name="adj1" fmla="val 25000"/>
                <a:gd name="adj2" fmla="val 25000"/>
                <a:gd name="adj3" fmla="val 25000"/>
                <a:gd name="adj4" fmla="val 41568"/>
                <a:gd name="adj5" fmla="val 75000"/>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Tree>
    <p:extLst>
      <p:ext uri="{BB962C8B-B14F-4D97-AF65-F5344CB8AC3E}">
        <p14:creationId xmlns:p14="http://schemas.microsoft.com/office/powerpoint/2010/main" val="361041764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down)">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animEffect transition="in" filter="fade">
                                      <p:cBhvr>
                                        <p:cTn id="17" dur="500"/>
                                        <p:tgtEl>
                                          <p:spTgt spid="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fade">
                                      <p:cBhvr>
                                        <p:cTn id="2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TotalTime>
  <Words>361</Words>
  <Application>Microsoft Office PowerPoint</Application>
  <PresentationFormat>Widescreen</PresentationFormat>
  <Paragraphs>56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Times New Roman</vt:lpstr>
      <vt:lpstr>Office Theme</vt:lpstr>
      <vt:lpstr>Bố cục một bài thuyết trình</vt:lpstr>
      <vt:lpstr>Giới thiệu</vt:lpstr>
      <vt:lpstr>Phần mở đầu</vt:lpstr>
      <vt:lpstr>Phần chính</vt:lpstr>
      <vt:lpstr>Phần kết</vt:lpstr>
      <vt:lpstr>Cảm ơn sự chú ý của quý vị</vt:lpstr>
      <vt:lpstr>Ví dụ: sử dụng một đoạn trích dẫn khi giới thiệu</vt:lpstr>
      <vt:lpstr>Ví dụ minh chứng một vấn đề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Bố cục một bài thuyết trình</dc:title>
  <dc:creator>Windows User</dc:creator>
  <cp:lastModifiedBy>user</cp:lastModifiedBy>
  <cp:revision>7</cp:revision>
  <dcterms:created xsi:type="dcterms:W3CDTF">2026-02-06T00:12:14Z</dcterms:created>
  <dcterms:modified xsi:type="dcterms:W3CDTF">2026-02-06T03:55:24Z</dcterms:modified>
</cp:coreProperties>
</file>